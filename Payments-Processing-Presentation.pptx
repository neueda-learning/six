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77" r:id="rId10"/>
    <p:sldId id="262" r:id="rId11"/>
    <p:sldId id="275" r:id="rId12"/>
    <p:sldId id="276" r:id="rId13"/>
    <p:sldId id="278" r:id="rId14"/>
    <p:sldId id="263" r:id="rId15"/>
    <p:sldId id="274" r:id="rId16"/>
    <p:sldId id="268" r:id="rId17"/>
    <p:sldId id="270" r:id="rId18"/>
    <p:sldId id="271" r:id="rId19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943" y="1143000"/>
            <a:ext cx="5486114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/>
              <a:t>Good morning/afternoon everyone. Welcome to our course project presentation.</a:t>
            </a:r>
            <a:endParaRPr lang="en-US" altLang="zh-CN"/>
          </a:p>
          <a:p>
            <a:r>
              <a:rPr lang="en-US" altLang="zh-CN"/>
              <a:t>Today we will show you our Payments Processing System – a complete lifecycle management system for financial payments.</a:t>
            </a:r>
            <a:endParaRPr lang="en-US" altLang="zh-CN"/>
          </a:p>
          <a:p>
            <a:r>
              <a:rPr lang="en-US" altLang="zh-CN"/>
              <a:t>We built it with Spring Boot 3 on the backend, and Vue 3 on the frontend.</a:t>
            </a:r>
            <a:endParaRPr lang="en-US" altLang="zh-CN"/>
          </a:p>
          <a:p>
            <a:r>
              <a:rPr lang="en-US" altLang="zh-CN"/>
              <a:t>Let’s walk through what we did, how it works, and what I personally contributed.</a:t>
            </a:r>
            <a:endParaRPr lang="en-US" altLang="zh-CN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/>
              <a:t>Here is our agenda for today.</a:t>
            </a:r>
            <a:endParaRPr lang="en-US" altLang="zh-CN"/>
          </a:p>
          <a:p>
            <a:r>
              <a:rPr lang="en-US" altLang="zh-CN"/>
              <a:t>We’ll start with the project background and goals.</a:t>
            </a:r>
            <a:endParaRPr lang="en-US" altLang="zh-CN"/>
          </a:p>
          <a:p>
            <a:r>
              <a:rPr lang="en-US" altLang="zh-CN"/>
              <a:t>After that, we’ll show the system design and tech stack.</a:t>
            </a:r>
            <a:endParaRPr lang="en-US" altLang="zh-CN"/>
          </a:p>
          <a:p>
            <a:r>
              <a:rPr lang="en-US" altLang="zh-CN"/>
              <a:t>Then we’ll share our contributions in detail.</a:t>
            </a:r>
            <a:endParaRPr lang="en-US" altLang="zh-CN"/>
          </a:p>
          <a:p>
            <a:r>
              <a:rPr lang="en-US" altLang="zh-CN">
                <a:sym typeface="+mn-ea"/>
              </a:rPr>
              <a:t>We’ll do a live demo of the main features.</a:t>
            </a:r>
            <a:endParaRPr lang="en-US" altLang="zh-CN"/>
          </a:p>
          <a:p>
            <a:r>
              <a:rPr lang="en-US" altLang="zh-CN"/>
              <a:t>Finally, we’ll cover testing and summary.</a:t>
            </a:r>
            <a:endParaRPr lang="en-US" altLang="zh-CN"/>
          </a:p>
          <a:p>
            <a:r>
              <a:rPr lang="en-US" altLang="zh-CN"/>
              <a:t>Feel free to ask questions at the end.</a:t>
            </a:r>
            <a:endParaRPr lang="en-US" altLang="zh-CN"/>
          </a:p>
          <a:p>
            <a:endParaRPr lang="en-US" altLang="zh-CN"/>
          </a:p>
          <a:p>
            <a:endParaRPr lang="en-US" altLang="zh-CN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/>
              <a:t>This project is a full-stack development training exercise. We are simulating a real-world payment system lifecycle – the kind you would find in a bank or a fintech company. The goal is to give us hands-on experience with REST APIs, database design, and frontend integration, all while following professional teamwork practices."</a:t>
            </a:r>
            <a:endParaRPr lang="en-US" altLang="zh-CN"/>
          </a:p>
          <a:p>
            <a:r>
              <a:rPr lang="en-US" altLang="zh-CN"/>
              <a:t>Our primary goal is to build a complete payment lifecycle management system. This means we handle a payment from the moment it is created, through validation, then sending, and finally either completion or failure. In other words, we cover the entire journey of a financial transaction."</a:t>
            </a:r>
            <a:endParaRPr lang="en-US" altLang="zh-CN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/>
              <a:t>We defined five states for a payment:</a:t>
            </a:r>
            <a:endParaRPr lang="en-US" altLang="zh-CN"/>
          </a:p>
          <a:p>
            <a:r>
              <a:rPr lang="en-US" altLang="zh-CN"/>
              <a:t>CREATED → VALIDATED → SENT → COMPLETED – this is the happy path.</a:t>
            </a:r>
            <a:endParaRPr lang="en-US" altLang="zh-CN"/>
          </a:p>
          <a:p>
            <a:r>
              <a:rPr lang="en-US" altLang="zh-CN"/>
              <a:t>But at any point, the payment can also go to FAILED – which is a final state.</a:t>
            </a:r>
            <a:endParaRPr lang="en-US" altLang="zh-CN"/>
          </a:p>
          <a:p>
            <a:r>
              <a:rPr lang="en-US" altLang="zh-CN"/>
              <a:t>We manage all legal transitions with a central PaymentStateMachine class. This prevents skipping states or going backwards.</a:t>
            </a:r>
            <a:endParaRPr lang="en-US" altLang="zh-CN"/>
          </a:p>
          <a:p>
            <a:r>
              <a:rPr lang="en-US" altLang="zh-CN"/>
              <a:t>For example, from CREATED to VALIDATED, we run three checks: amount, currency, and account validity – plus a balance check.</a:t>
            </a:r>
            <a:endParaRPr lang="en-US" altLang="zh-CN"/>
          </a:p>
          <a:p>
            <a:r>
              <a:rPr lang="en-US" altLang="zh-CN"/>
              <a:t>From VALIDATED to SENT, and SENT to COMPLETED, we just move forward.</a:t>
            </a:r>
            <a:endParaRPr lang="en-US" altLang="zh-CN"/>
          </a:p>
          <a:p>
            <a:r>
              <a:rPr lang="en-US" altLang="zh-CN"/>
              <a:t>And any transition to FAILED must include an error code and an error message.</a:t>
            </a:r>
            <a:endParaRPr lang="en-US" altLang="zh-CN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/>
              <a:t>On the frontend, we use Vue 3 with Element Plus for UI components, vue-router for navigation, and vue-i18n for three languages: English, Chinese, and German.</a:t>
            </a:r>
            <a:endParaRPr lang="en-US" altLang="zh-CN"/>
          </a:p>
          <a:p>
            <a:r>
              <a:rPr lang="en-US" altLang="zh-CN"/>
              <a:t>On the backend, it’s Spring Boot 3, MyBatis-Plus for database access, and MySQL. We follow a clear layered architecture: Controller, Service, Validator, and State Machine.</a:t>
            </a:r>
            <a:endParaRPr lang="en-US" altLang="zh-CN"/>
          </a:p>
          <a:p>
            <a:r>
              <a:rPr lang="en-US" altLang="zh-CN"/>
              <a:t>All API responses follow a uniform format: { success, data, errorCode, message }.</a:t>
            </a:r>
            <a:endParaRPr lang="en-US" altLang="zh-CN"/>
          </a:p>
          <a:p>
            <a:r>
              <a:rPr lang="en-US" altLang="zh-CN"/>
              <a:t>We have global exception handling using @RestControllerAdvice to convert errors into that same format.</a:t>
            </a:r>
            <a:endParaRPr lang="en-US" altLang="zh-CN"/>
          </a:p>
          <a:p>
            <a:r>
              <a:rPr lang="en-US" altLang="zh-CN"/>
              <a:t>We also provide Swagger/OpenAPI documentation for all endpoints.</a:t>
            </a:r>
            <a:endParaRPr lang="en-US" altLang="zh-CN"/>
          </a:p>
          <a:p>
            <a:r>
              <a:rPr lang="en-US" altLang="zh-CN"/>
              <a:t>And we have a scheduled task that simulates network delay – it automatically advances payments asynchronously.</a:t>
            </a:r>
            <a:endParaRPr lang="en-US" altLang="zh-CN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/>
              <a:t>Let me quickly list the main features we built:</a:t>
            </a:r>
            <a:endParaRPr lang="en-US" altLang="zh-CN"/>
          </a:p>
          <a:p>
            <a:r>
              <a:rPr lang="en-US" altLang="zh-CN"/>
              <a:t>Create a payment with an idempotency key to prevent duplicate submissions.</a:t>
            </a:r>
            <a:endParaRPr lang="en-US" altLang="zh-CN"/>
          </a:p>
          <a:p>
            <a:r>
              <a:rPr lang="en-US" altLang="zh-CN"/>
              <a:t>View payment details, including failure error details.</a:t>
            </a:r>
            <a:endParaRPr lang="en-US" altLang="zh-CN"/>
          </a:p>
          <a:p>
            <a:r>
              <a:rPr lang="en-US" altLang="zh-CN"/>
              <a:t>See the full audit trail – the history timeline of state changes.</a:t>
            </a:r>
            <a:endParaRPr lang="en-US" altLang="zh-CN"/>
          </a:p>
          <a:p>
            <a:r>
              <a:rPr lang="en-US" altLang="zh-CN"/>
              <a:t>List all payments with filtering by status and pagination.</a:t>
            </a:r>
            <a:endParaRPr lang="en-US" altLang="zh-CN"/>
          </a:p>
          <a:p>
            <a:r>
              <a:rPr lang="en-US" altLang="zh-CN"/>
              <a:t>A recycle bin – for soft delete, restore, and permanent delete – with a 30‑day retention rule.</a:t>
            </a:r>
            <a:endParaRPr lang="en-US" altLang="zh-CN"/>
          </a:p>
          <a:p>
            <a:r>
              <a:rPr lang="en-US" altLang="zh-CN"/>
              <a:t>And manual state transition endpoints – these are useful for demos and testing.</a:t>
            </a:r>
            <a:endParaRPr lang="en-US" altLang="zh-CN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/>
              <a:t>I designed and implemented the multi-language feature on the frontend.</a:t>
            </a:r>
            <a:endParaRPr lang="en-US" altLang="zh-CN"/>
          </a:p>
          <a:p>
            <a:r>
              <a:rPr lang="en-US" altLang="zh-CN"/>
              <a:t>I added vue-i18n to support Chinese, English, and German.</a:t>
            </a:r>
            <a:endParaRPr lang="en-US" altLang="zh-CN"/>
          </a:p>
          <a:p>
            <a:r>
              <a:rPr lang="en-US" altLang="zh-CN"/>
              <a:t>On first visit, the system detects the browser language automatically. After that, the user’s choice is saved in localStorage.</a:t>
            </a:r>
            <a:endParaRPr lang="en-US" altLang="zh-CN"/>
          </a:p>
          <a:p>
            <a:r>
              <a:rPr lang="en-US" altLang="zh-CN"/>
              <a:t>Error codes are mapped to localized messages on the frontend, which gives better user experience than using backend-fixed messages.</a:t>
            </a:r>
            <a:endParaRPr lang="en-US" altLang="zh-CN"/>
          </a:p>
          <a:p>
            <a:r>
              <a:rPr lang="en-US" altLang="zh-CN"/>
              <a:t>Importantly, all these changes are only on the frontend – no backend changes were needed.</a:t>
            </a:r>
            <a:endParaRPr lang="en-US" altLang="zh-CN"/>
          </a:p>
          <a:p>
            <a:r>
              <a:rPr lang="en-US" altLang="zh-CN"/>
              <a:t>(</a:t>
            </a:r>
            <a:r>
              <a:rPr lang="zh-CN" altLang="en-US"/>
              <a:t>为什么使用</a:t>
            </a:r>
            <a:r>
              <a:rPr lang="en-US" altLang="zh-CN"/>
              <a:t>vue-i18n</a:t>
            </a:r>
            <a:r>
              <a:rPr lang="zh-CN" altLang="en-US"/>
              <a:t>是因为手动实现需要遍历</a:t>
            </a:r>
            <a:r>
              <a:rPr lang="en-US" altLang="zh-CN"/>
              <a:t>dom</a:t>
            </a:r>
            <a:r>
              <a:rPr lang="zh-CN" altLang="en-US"/>
              <a:t>树，这样可以通过</a:t>
            </a:r>
            <a:r>
              <a:rPr lang="en-US" altLang="zh-CN"/>
              <a:t>t()</a:t>
            </a:r>
            <a:r>
              <a:rPr lang="zh-CN" altLang="en-US"/>
              <a:t>自动绑定，支持语言包懒加载，更快实现</a:t>
            </a:r>
            <a:r>
              <a:rPr lang="en-US" altLang="zh-CN"/>
              <a:t>)</a:t>
            </a:r>
            <a:endParaRPr lang="en-US" altLang="zh-CN"/>
          </a:p>
          <a:p>
            <a:r>
              <a:rPr lang="en-US" altLang="zh-CN"/>
              <a:t>Originally, the auto-transition always ended in COMPLETED – so we couldn’t show the FAILED path.</a:t>
            </a:r>
            <a:endParaRPr lang="en-US" altLang="zh-CN"/>
          </a:p>
          <a:p>
            <a:r>
              <a:rPr lang="en-US" altLang="zh-CN"/>
              <a:t>I added a configurable failure-probability, set to 20% by default.</a:t>
            </a:r>
            <a:endParaRPr lang="en-US" altLang="zh-CN"/>
          </a:p>
          <a:p>
            <a:r>
              <a:rPr lang="en-US" altLang="zh-CN"/>
              <a:t>When a failure is triggered, the system picks a realistic error code – like PROCESSING_ERROR or NETWORK_ERROR – depending on the current stage.</a:t>
            </a:r>
            <a:endParaRPr lang="en-US" altLang="zh-CN"/>
          </a:p>
          <a:p>
            <a:r>
              <a:rPr lang="en-US" altLang="zh-CN"/>
              <a:t>With a 20% chance per step we can demo both happy and failure paths.</a:t>
            </a:r>
            <a:endParaRPr lang="en-US" altLang="zh-CN"/>
          </a:p>
          <a:p>
            <a:r>
              <a:rPr lang="en-US" altLang="zh-CN"/>
              <a:t>But we made sure that real business rules – like balance checks – always take priority over the random demo logic.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The requirement was to check if the account has enough balance – but we do not deduct any money, and we don’t handle concurrency conflicts. The balance never changes.</a:t>
            </a:r>
            <a:endParaRPr lang="en-US" altLang="zh-CN"/>
          </a:p>
          <a:p>
            <a:r>
              <a:rPr lang="en-US" altLang="zh-CN"/>
              <a:t>I added a balance field to the payment table via a separate migration script – without modifying the original schema.</a:t>
            </a:r>
            <a:endParaRPr lang="en-US" altLang="zh-CN"/>
          </a:p>
          <a:p>
            <a:r>
              <a:rPr lang="en-US" altLang="zh-CN"/>
              <a:t>The method hasSufficientBalance() performs a read‑only query – no UPDATE at all.</a:t>
            </a:r>
            <a:endParaRPr lang="en-US" altLang="zh-CN"/>
          </a:p>
          <a:p>
            <a:r>
              <a:rPr lang="en-US" altLang="zh-CN"/>
              <a:t>This check is triggered only during the CREATED→VALIDATED transition.</a:t>
            </a:r>
            <a:endParaRPr lang="en-US" altLang="zh-CN"/>
          </a:p>
          <a:p>
            <a:r>
              <a:rPr lang="en-US" altLang="zh-CN"/>
              <a:t>If the balance is insufficient, the target state is forced to FAILED with error code INSUFFICIENT_FUNDS.</a:t>
            </a:r>
            <a:endParaRPr lang="en-US" altLang="zh-CN"/>
          </a:p>
          <a:p>
            <a:r>
              <a:rPr lang="en-US" altLang="zh-CN"/>
              <a:t>Both the manual API and the scheduled auto‑transition reuse the same validation logic.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I wrote a test cases document – test-cases.md – with many test cases covering core scenarios.I only completed half of it; the other half was done by another colleague.</a:t>
            </a:r>
            <a:endParaRPr lang="en-US" altLang="zh-CN"/>
          </a:p>
          <a:p>
            <a:r>
              <a:rPr lang="en-US" altLang="zh-CN"/>
              <a:t>I wrote the paymentvalidatortest class.</a:t>
            </a:r>
            <a:endParaRPr lang="en-US" altLang="zh-CN"/>
          </a:p>
          <a:p>
            <a:r>
              <a:rPr lang="en-US" altLang="zh-CN"/>
              <a:t>PaymentValidatorTest – 15 cases covering amount, account, and balance checks.</a:t>
            </a:r>
            <a:endParaRPr lang="en-US" altLang="zh-CN"/>
          </a:p>
          <a:p>
            <a:r>
              <a:rPr lang="en-US" altLang="zh-CN"/>
              <a:t>PaymentStateMachineTest – uses parameterized tests to cover 25 state transition combinations.</a:t>
            </a:r>
            <a:endParaRPr lang="en-US" altLang="zh-CN"/>
          </a:p>
          <a:p>
            <a:r>
              <a:rPr lang="en-US" altLang="zh-CN"/>
              <a:t>PaymentServiceImplTest – covers state parsing and optimistic lock scenarios, as they exist in the current code.</a:t>
            </a:r>
            <a:endParaRPr lang="en-US" altLang="zh-CN"/>
          </a:p>
          <a:p>
            <a:r>
              <a:rPr lang="en-US" altLang="zh-CN"/>
              <a:t>All tests use Mockito to isolate the database and background scheduler – so they are stable and repeatable.</a:t>
            </a:r>
            <a:endParaRPr lang="en-US" altLang="zh-CN"/>
          </a:p>
          <a:p>
            <a:endParaRPr lang="en-US" altLang="zh-CN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72800" cy="1014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</a:rPr>
              <a:t>Payments Processing System</a:t>
            </a:r>
            <a:endParaRPr sz="6000" b="1">
              <a:solidFill>
                <a:srgbClr val="FFFFFF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3931920"/>
            <a:ext cx="10972800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BEAFE"/>
                </a:solidFill>
              </a:rPr>
              <a:t>Spring Boot 3 + MyBatis-Plus + MySQL  |  Vue 3 + Element Plus + vue-i18n</a:t>
            </a:r>
            <a:endParaRPr sz="2400">
              <a:solidFill>
                <a:srgbClr val="DBEAFE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68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F2329"/>
                </a:solidFill>
              </a:rPr>
              <a:t> Agenda</a:t>
            </a:r>
            <a:endParaRPr sz="4400" b="1">
              <a:solidFill>
                <a:srgbClr val="1F2329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22960" y="1664970"/>
            <a:ext cx="10515600" cy="3446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800" b="1">
                <a:solidFill>
                  <a:srgbClr val="1F2329"/>
                </a:solidFill>
              </a:rPr>
              <a:t>• </a:t>
            </a:r>
            <a:r>
              <a:rPr lang="en-US" sz="2800" b="1">
                <a:solidFill>
                  <a:srgbClr val="1F2329"/>
                </a:solidFill>
              </a:rPr>
              <a:t>P</a:t>
            </a:r>
            <a:r>
              <a:rPr lang="en-US" altLang="zh-CN" sz="2800" b="1">
                <a:solidFill>
                  <a:srgbClr val="1F2329"/>
                </a:solidFill>
              </a:rPr>
              <a:t>roject Background and Goals</a:t>
            </a:r>
            <a:endParaRPr lang="en-US" altLang="zh-CN" sz="2800" b="1">
              <a:solidFill>
                <a:srgbClr val="1F2329"/>
              </a:solidFill>
            </a:endParaRPr>
          </a:p>
          <a:p>
            <a:pPr>
              <a:spcAft>
                <a:spcPts val="1200"/>
              </a:spcAft>
            </a:pPr>
            <a:r>
              <a:rPr sz="2800" b="1">
                <a:solidFill>
                  <a:srgbClr val="1F2329"/>
                </a:solidFill>
              </a:rPr>
              <a:t>• </a:t>
            </a:r>
            <a:r>
              <a:rPr lang="en-US" sz="2800" b="1">
                <a:solidFill>
                  <a:srgbClr val="1F2329"/>
                </a:solidFill>
              </a:rPr>
              <a:t>S</a:t>
            </a:r>
            <a:r>
              <a:rPr lang="en-US" altLang="zh-CN" sz="2800" b="1">
                <a:solidFill>
                  <a:srgbClr val="1F2329"/>
                </a:solidFill>
              </a:rPr>
              <a:t>ystem Design and Tech Stack</a:t>
            </a:r>
            <a:endParaRPr lang="en-US" altLang="zh-CN" sz="2800" b="1">
              <a:solidFill>
                <a:srgbClr val="1F2329"/>
              </a:solidFill>
            </a:endParaRPr>
          </a:p>
          <a:p>
            <a:pPr>
              <a:spcAft>
                <a:spcPts val="1200"/>
              </a:spcAft>
            </a:pPr>
            <a:r>
              <a:rPr sz="2800" b="1">
                <a:solidFill>
                  <a:srgbClr val="1F2329"/>
                </a:solidFill>
              </a:rPr>
              <a:t>• </a:t>
            </a:r>
            <a:r>
              <a:rPr lang="en-US" sz="2800" b="1">
                <a:solidFill>
                  <a:srgbClr val="1F2329"/>
                </a:solidFill>
              </a:rPr>
              <a:t>Our Contribution</a:t>
            </a:r>
            <a:endParaRPr lang="en-US" sz="2800" b="1">
              <a:solidFill>
                <a:srgbClr val="1F2329"/>
              </a:solidFill>
            </a:endParaRPr>
          </a:p>
          <a:p>
            <a:pPr>
              <a:spcAft>
                <a:spcPts val="1200"/>
              </a:spcAft>
            </a:pPr>
            <a:r>
              <a:rPr sz="2800" b="1">
                <a:solidFill>
                  <a:srgbClr val="1F2329"/>
                </a:solidFill>
                <a:sym typeface="+mn-ea"/>
              </a:rPr>
              <a:t>• Live Demo</a:t>
            </a:r>
            <a:endParaRPr sz="2800" b="1">
              <a:solidFill>
                <a:srgbClr val="1F2329"/>
              </a:solidFill>
            </a:endParaRPr>
          </a:p>
          <a:p>
            <a:pPr>
              <a:spcAft>
                <a:spcPts val="1200"/>
              </a:spcAft>
            </a:pPr>
            <a:r>
              <a:rPr sz="2800" b="1">
                <a:solidFill>
                  <a:srgbClr val="1F2329"/>
                </a:solidFill>
              </a:rPr>
              <a:t>• </a:t>
            </a:r>
            <a:r>
              <a:rPr lang="en-US" sz="2800" b="1">
                <a:solidFill>
                  <a:srgbClr val="1F2329"/>
                </a:solidFill>
              </a:rPr>
              <a:t>Testing</a:t>
            </a:r>
            <a:endParaRPr sz="2800" b="1">
              <a:solidFill>
                <a:srgbClr val="1F2329"/>
              </a:solidFill>
            </a:endParaRPr>
          </a:p>
          <a:p>
            <a:pPr>
              <a:spcAft>
                <a:spcPts val="1200"/>
              </a:spcAft>
            </a:pPr>
            <a:r>
              <a:rPr sz="2800" b="1">
                <a:solidFill>
                  <a:srgbClr val="1F2329"/>
                </a:solidFill>
              </a:rPr>
              <a:t>•</a:t>
            </a:r>
            <a:r>
              <a:rPr lang="en-US" sz="2800" b="1">
                <a:solidFill>
                  <a:srgbClr val="1F2329"/>
                </a:solidFill>
              </a:rPr>
              <a:t> Summary</a:t>
            </a:r>
            <a:endParaRPr lang="en-US" sz="2800" b="1">
              <a:solidFill>
                <a:srgbClr val="1F2329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68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CN" sz="4400" b="1">
                <a:solidFill>
                  <a:srgbClr val="1F2329"/>
                </a:solidFill>
              </a:rPr>
              <a:t>Project Background and Goals</a:t>
            </a:r>
            <a:endParaRPr lang="en-US" altLang="zh-CN" sz="4400" b="1">
              <a:solidFill>
                <a:srgbClr val="1F2329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22960" y="1684655"/>
            <a:ext cx="10515600" cy="3895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lang="en-US" sz="2800" b="1">
                <a:solidFill>
                  <a:srgbClr val="1F2329"/>
                </a:solidFill>
              </a:rPr>
              <a:t>Project background</a:t>
            </a:r>
            <a:endParaRPr sz="2800" b="1">
              <a:solidFill>
                <a:srgbClr val="1F2329"/>
              </a:solidFill>
            </a:endParaRPr>
          </a:p>
          <a:p>
            <a:pPr indent="457200">
              <a:lnSpc>
                <a:spcPct val="120000"/>
              </a:lnSpc>
              <a:spcAft>
                <a:spcPts val="1200"/>
              </a:spcAft>
            </a:pPr>
            <a:r>
              <a:rPr lang="en-US" altLang="zh-CN" sz="2000">
                <a:sym typeface="+mn-ea"/>
              </a:rPr>
              <a:t>Full-stack development hands-on training that simulates a real-world payment system lifecycle.</a:t>
            </a:r>
            <a:endParaRPr sz="2000" b="1">
              <a:solidFill>
                <a:srgbClr val="1F2329"/>
              </a:solidFill>
            </a:endParaRP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lang="en-US" sz="2800" b="1">
                <a:solidFill>
                  <a:srgbClr val="1F2329"/>
                </a:solidFill>
              </a:rPr>
              <a:t>Goals</a:t>
            </a:r>
            <a:endParaRPr lang="en-US" sz="2800" b="1">
              <a:solidFill>
                <a:srgbClr val="1F2329"/>
              </a:solidFill>
            </a:endParaRPr>
          </a:p>
          <a:p>
            <a:pPr indent="457200">
              <a:lnSpc>
                <a:spcPct val="120000"/>
              </a:lnSpc>
              <a:spcAft>
                <a:spcPts val="1200"/>
              </a:spcAft>
            </a:pPr>
            <a:r>
              <a:rPr lang="en-US" altLang="zh-CN" sz="2000">
                <a:solidFill>
                  <a:srgbClr val="1F2329"/>
                </a:solidFill>
              </a:rPr>
              <a:t>Build a payment full-lifecycle management system that enables:</a:t>
            </a:r>
            <a:endParaRPr lang="en-US" altLang="zh-CN" sz="2000">
              <a:solidFill>
                <a:srgbClr val="1F2329"/>
              </a:solidFill>
            </a:endParaRPr>
          </a:p>
          <a:p>
            <a:pPr indent="457200">
              <a:lnSpc>
                <a:spcPct val="120000"/>
              </a:lnSpc>
              <a:spcAft>
                <a:spcPts val="1200"/>
              </a:spcAft>
            </a:pPr>
            <a:r>
              <a:rPr lang="en-US" altLang="zh-CN" sz="2000">
                <a:solidFill>
                  <a:srgbClr val="1F2329"/>
                </a:solidFill>
              </a:rPr>
              <a:t>Payment creation → validation → sending → completion (or failure)</a:t>
            </a:r>
            <a:endParaRPr lang="en-US" altLang="zh-CN" sz="2000">
              <a:solidFill>
                <a:srgbClr val="1F2329"/>
              </a:solidFill>
            </a:endParaRPr>
          </a:p>
          <a:p>
            <a:pPr indent="457200">
              <a:lnSpc>
                <a:spcPct val="120000"/>
              </a:lnSpc>
              <a:spcAft>
                <a:spcPts val="1200"/>
              </a:spcAft>
            </a:pPr>
            <a:r>
              <a:rPr lang="en-US" altLang="zh-CN" sz="2000">
                <a:solidFill>
                  <a:srgbClr val="1F2329"/>
                </a:solidFill>
              </a:rPr>
              <a:t>Strict state machine transitions (5 statuses: CREATED, VALIDATED, SENT, COMPLETED, FAILED)</a:t>
            </a:r>
            <a:endParaRPr lang="en-US" altLang="zh-CN" sz="2000">
              <a:solidFill>
                <a:srgbClr val="1F2329"/>
              </a:solidFill>
            </a:endParaRPr>
          </a:p>
          <a:p>
            <a:pPr indent="457200">
              <a:lnSpc>
                <a:spcPct val="120000"/>
              </a:lnSpc>
              <a:spcAft>
                <a:spcPts val="1200"/>
              </a:spcAft>
            </a:pPr>
            <a:r>
              <a:rPr lang="en-US" altLang="zh-CN" sz="2000">
                <a:solidFill>
                  <a:srgbClr val="1F2329"/>
                </a:solidFill>
              </a:rPr>
              <a:t>Complete audit trail (timestamp recorded for every status change)</a:t>
            </a:r>
            <a:endParaRPr lang="en-US" altLang="zh-CN" sz="2000">
              <a:solidFill>
                <a:srgbClr val="1F2329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68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CN" sz="4400" b="1">
                <a:solidFill>
                  <a:srgbClr val="1F2329"/>
                </a:solidFill>
              </a:rPr>
              <a:t>Payment Lifecycle &amp; State Machine Design</a:t>
            </a:r>
            <a:endParaRPr lang="en-US" altLang="zh-CN" sz="4400" b="1">
              <a:solidFill>
                <a:srgbClr val="1F2329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22960" y="1584960"/>
            <a:ext cx="11237595" cy="44926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spcAft>
                <a:spcPts val="1200"/>
              </a:spcAft>
              <a:buFont typeface="Wingdings" panose="05000000000000000000" charset="0"/>
              <a:buChar char="l"/>
            </a:pPr>
            <a:r>
              <a:rPr lang="en-US" sz="2000">
                <a:solidFill>
                  <a:srgbClr val="1F2329"/>
                </a:solidFill>
              </a:rPr>
              <a:t>FIve states</a:t>
            </a:r>
            <a:r>
              <a:rPr sz="2000">
                <a:solidFill>
                  <a:srgbClr val="1F2329"/>
                </a:solidFill>
              </a:rPr>
              <a:t>：CREATED → VALIDATED → SENT → COMPLETED</a:t>
            </a:r>
            <a:endParaRPr sz="2000">
              <a:solidFill>
                <a:srgbClr val="1F2329"/>
              </a:solidFill>
            </a:endParaRPr>
          </a:p>
          <a:p>
            <a:pPr marL="342900" indent="-342900">
              <a:lnSpc>
                <a:spcPct val="150000"/>
              </a:lnSpc>
              <a:spcAft>
                <a:spcPts val="1200"/>
              </a:spcAft>
              <a:buFont typeface="Wingdings" panose="05000000000000000000" charset="0"/>
              <a:buChar char="l"/>
            </a:pPr>
            <a:r>
              <a:rPr lang="en-US" altLang="zh-CN" sz="2000">
                <a:solidFill>
                  <a:srgbClr val="1F2329"/>
                </a:solidFill>
              </a:rPr>
              <a:t>Any state can transition to FAILED (terminal state)</a:t>
            </a:r>
            <a:endParaRPr lang="en-US" altLang="zh-CN" sz="2000">
              <a:solidFill>
                <a:srgbClr val="1F2329"/>
              </a:solidFill>
            </a:endParaRPr>
          </a:p>
          <a:p>
            <a:pPr marL="342900" indent="-342900">
              <a:lnSpc>
                <a:spcPct val="150000"/>
              </a:lnSpc>
              <a:spcAft>
                <a:spcPts val="1200"/>
              </a:spcAft>
              <a:buFont typeface="Wingdings" panose="05000000000000000000" charset="0"/>
              <a:buChar char="l"/>
            </a:pPr>
            <a:r>
              <a:rPr lang="en-US" altLang="zh-CN" sz="2000">
                <a:solidFill>
                  <a:srgbClr val="1F2329"/>
                </a:solidFill>
              </a:rPr>
              <a:t>Valid transitions are centrally managed by PaymentStateMachine – no skipping or reversing allowed</a:t>
            </a:r>
            <a:endParaRPr lang="en-US" altLang="zh-CN" sz="2000">
              <a:solidFill>
                <a:srgbClr val="1F2329"/>
              </a:solidFill>
            </a:endParaRPr>
          </a:p>
          <a:p>
            <a:pPr marL="742950" lvl="1" indent="-285750">
              <a:lnSpc>
                <a:spcPct val="15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sz="1800" b="0">
                <a:solidFill>
                  <a:srgbClr val="1F2329"/>
                </a:solidFill>
              </a:rPr>
              <a:t>CREATED → VALIDATED: three-layer validation (amount / currency / account) + sufficient balance check</a:t>
            </a:r>
            <a:endParaRPr lang="en-US" altLang="zh-CN" sz="1800" b="0">
              <a:solidFill>
                <a:srgbClr val="1F2329"/>
              </a:solidFill>
            </a:endParaRPr>
          </a:p>
          <a:p>
            <a:pPr marL="742950" lvl="1" indent="-285750">
              <a:lnSpc>
                <a:spcPct val="15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sz="1800" b="0">
                <a:solidFill>
                  <a:srgbClr val="1F2329"/>
                </a:solidFill>
              </a:rPr>
              <a:t>VALIDATED → SENT, SENT → COMPLETED: normal progression</a:t>
            </a:r>
            <a:endParaRPr lang="en-US" altLang="zh-CN" sz="1800" b="0">
              <a:solidFill>
                <a:srgbClr val="1F2329"/>
              </a:solidFill>
            </a:endParaRPr>
          </a:p>
          <a:p>
            <a:pPr marL="742950" lvl="1" indent="-285750">
              <a:lnSpc>
                <a:spcPct val="15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sz="1800" b="0">
                <a:solidFill>
                  <a:srgbClr val="1F2329"/>
                </a:solidFill>
              </a:rPr>
              <a:t>Any state → FAILED: carries errorCode + errorMessage</a:t>
            </a:r>
            <a:endParaRPr lang="en-US" altLang="zh-CN" sz="1800" b="0">
              <a:solidFill>
                <a:srgbClr val="1F2329"/>
              </a:solidFill>
            </a:endParaRPr>
          </a:p>
          <a:p>
            <a:pPr>
              <a:lnSpc>
                <a:spcPct val="150000"/>
              </a:lnSpc>
              <a:spcAft>
                <a:spcPts val="1200"/>
              </a:spcAft>
            </a:pPr>
            <a:endParaRPr lang="en-US" altLang="zh-CN" sz="1800" b="0">
              <a:solidFill>
                <a:srgbClr val="1F2329"/>
              </a:solidFill>
            </a:endParaRPr>
          </a:p>
          <a:p>
            <a:pPr>
              <a:spcAft>
                <a:spcPts val="1200"/>
              </a:spcAft>
            </a:pPr>
            <a:endParaRPr lang="en-US" altLang="zh-CN" sz="1800" b="0">
              <a:solidFill>
                <a:srgbClr val="1F2329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68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CN" sz="4400" b="1">
                <a:solidFill>
                  <a:srgbClr val="1F2329"/>
                </a:solidFill>
              </a:rPr>
              <a:t>System Architecture &amp; Tech Stack</a:t>
            </a:r>
            <a:endParaRPr lang="en-US" altLang="zh-CN" sz="4400" b="1">
              <a:solidFill>
                <a:srgbClr val="1F2329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4615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4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sz="2000">
                <a:solidFill>
                  <a:srgbClr val="1F2329"/>
                </a:solidFill>
              </a:rPr>
              <a:t>Frontend: Vue 3 + Element Plus + vue-router + vue-i18n</a:t>
            </a:r>
            <a:endParaRPr lang="en-US" altLang="zh-CN" sz="2000">
              <a:solidFill>
                <a:srgbClr val="1F2329"/>
              </a:solidFill>
            </a:endParaRP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sz="2000">
                <a:solidFill>
                  <a:srgbClr val="1F2329"/>
                </a:solidFill>
              </a:rPr>
              <a:t>Backend: Spring Boot 3 + MyBatis-Plus + MySQL, with a layered architecture:</a:t>
            </a:r>
            <a:endParaRPr lang="en-US" altLang="zh-CN" sz="2000">
              <a:solidFill>
                <a:srgbClr val="1F2329"/>
              </a:solidFill>
            </a:endParaRP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sz="2000">
                <a:solidFill>
                  <a:srgbClr val="1F2329"/>
                </a:solidFill>
              </a:rPr>
              <a:t>Controller / Service / Validator / StateMachine</a:t>
            </a:r>
            <a:endParaRPr lang="en-US" altLang="zh-CN" sz="2000">
              <a:solidFill>
                <a:srgbClr val="1F2329"/>
              </a:solidFill>
            </a:endParaRP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sz="2000">
                <a:solidFill>
                  <a:srgbClr val="1F2329"/>
                </a:solidFill>
              </a:rPr>
              <a:t>Unified Response Body: { success, data, errorCode, message }</a:t>
            </a:r>
            <a:endParaRPr lang="en-US" altLang="zh-CN" sz="2000">
              <a:solidFill>
                <a:srgbClr val="1F2329"/>
              </a:solidFill>
            </a:endParaRP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sz="2000">
                <a:solidFill>
                  <a:srgbClr val="1F2329"/>
                </a:solidFill>
              </a:rPr>
              <a:t>Global Exception Handling: @RestControllerAdvice to uniformly transform error responses</a:t>
            </a:r>
            <a:endParaRPr lang="en-US" altLang="zh-CN" sz="2000">
              <a:solidFill>
                <a:srgbClr val="1F2329"/>
              </a:solidFill>
            </a:endParaRP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sz="2000">
                <a:solidFill>
                  <a:srgbClr val="1F2329"/>
                </a:solidFill>
              </a:rPr>
              <a:t>API Documentation: Swagger / OpenAPI</a:t>
            </a:r>
            <a:endParaRPr lang="en-US" altLang="zh-CN" sz="2000">
              <a:solidFill>
                <a:srgbClr val="1F2329"/>
              </a:solidFill>
            </a:endParaRP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sz="2000">
                <a:solidFill>
                  <a:srgbClr val="1F2329"/>
                </a:solidFill>
              </a:rPr>
              <a:t>Scheduled Task: PaymentAutoTransitionScheduler to simulate asynchronous processing delays experienced in real-world network calls</a:t>
            </a:r>
            <a:endParaRPr lang="en-US" altLang="zh-CN" sz="2000">
              <a:solidFill>
                <a:srgbClr val="1F2329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768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CN" sz="4400" b="1">
                <a:solidFill>
                  <a:srgbClr val="1F2329"/>
                </a:solidFill>
              </a:rPr>
              <a:t>Core Feature Modules Overview</a:t>
            </a:r>
            <a:endParaRPr lang="en-US" altLang="zh-CN" sz="3200" b="1">
              <a:solidFill>
                <a:srgbClr val="1F2329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22960" y="1558290"/>
            <a:ext cx="10515600" cy="3446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4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sz="2000">
                <a:solidFill>
                  <a:srgbClr val="1F2329"/>
                </a:solidFill>
              </a:rPr>
              <a:t>Payment creation (idempotency key to prevent duplicate submissions)</a:t>
            </a:r>
            <a:endParaRPr lang="en-US" altLang="zh-CN" sz="2000">
              <a:solidFill>
                <a:srgbClr val="1F2329"/>
              </a:solidFill>
            </a:endParaRP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sz="2000">
                <a:solidFill>
                  <a:srgbClr val="1F2329"/>
                </a:solidFill>
              </a:rPr>
              <a:t>Payment details view + failure error details display</a:t>
            </a:r>
            <a:endParaRPr lang="en-US" altLang="zh-CN" sz="2000">
              <a:solidFill>
                <a:srgbClr val="1F2329"/>
              </a:solidFill>
            </a:endParaRP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sz="2000">
                <a:solidFill>
                  <a:srgbClr val="1F2329"/>
                </a:solidFill>
              </a:rPr>
              <a:t>Payment status history timeline (Audit Trail)</a:t>
            </a:r>
            <a:endParaRPr lang="en-US" altLang="zh-CN" sz="2000">
              <a:solidFill>
                <a:srgbClr val="1F2329"/>
              </a:solidFill>
            </a:endParaRP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sz="2000">
                <a:solidFill>
                  <a:srgbClr val="1F2329"/>
                </a:solidFill>
              </a:rPr>
              <a:t>Payment list retrieval, filtering by status, pagination</a:t>
            </a:r>
            <a:endParaRPr lang="en-US" altLang="zh-CN" sz="2000">
              <a:solidFill>
                <a:srgbClr val="1F2329"/>
              </a:solidFill>
            </a:endParaRP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sz="2000">
                <a:solidFill>
                  <a:srgbClr val="1F2329"/>
                </a:solidFill>
              </a:rPr>
              <a:t>Recycle bin (soft delete / restore / permanent delete, 30-day retention)</a:t>
            </a:r>
            <a:endParaRPr lang="en-US" altLang="zh-CN" sz="2000">
              <a:solidFill>
                <a:srgbClr val="1F2329"/>
              </a:solidFill>
            </a:endParaRPr>
          </a:p>
          <a:p>
            <a:pPr marL="342900" indent="-342900">
              <a:lnSpc>
                <a:spcPct val="140000"/>
              </a:lnSpc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altLang="zh-CN" sz="2000">
                <a:solidFill>
                  <a:srgbClr val="1F2329"/>
                </a:solidFill>
              </a:rPr>
              <a:t>Manual status transition interface</a:t>
            </a:r>
            <a:endParaRPr lang="en-US" altLang="zh-CN" sz="2000">
              <a:solidFill>
                <a:srgbClr val="1F2329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5188" y="200528"/>
            <a:ext cx="6515312" cy="645694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0"/>
            <a:ext cx="10972800" cy="768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4400" b="1">
                <a:solidFill>
                  <a:srgbClr val="FFFFFF"/>
                </a:solidFill>
              </a:rPr>
              <a:t>Our Contribution</a:t>
            </a:r>
            <a:endParaRPr lang="en-US" sz="4400" b="1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695" y="1118870"/>
            <a:ext cx="4058285" cy="5427345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3309" y="1813937"/>
            <a:ext cx="3929536" cy="3985873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598805" y="354330"/>
            <a:ext cx="609600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>
                <a:solidFill>
                  <a:srgbClr val="1F2329"/>
                </a:solidFill>
                <a:effectLst/>
                <a:uFillTx/>
                <a:latin typeface="Calibri" panose="020F0502020204030204"/>
                <a:sym typeface="+mn-ea"/>
              </a:rPr>
              <a:t>Elan Y Z Hui’s Contribution</a:t>
            </a:r>
            <a:endParaRPr lang="en-US" altLang="en-US" sz="3200" b="1">
              <a:solidFill>
                <a:srgbClr val="1F2329"/>
              </a:solidFill>
              <a:effectLst/>
              <a:uFillTx/>
              <a:latin typeface="Calibri" panose="020F0502020204030204"/>
              <a:sym typeface="+mn-e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0219" y="52788"/>
            <a:ext cx="6021517" cy="3224456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6371" y="0"/>
            <a:ext cx="4481256" cy="3567143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6912" y="3616894"/>
            <a:ext cx="5671735" cy="3006108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870" y="3429000"/>
            <a:ext cx="6108168" cy="319400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/>
          <p:nvPr/>
        </p:nvPicPr>
        <p:blipFill>
          <a:blip r:embed="rId1"/>
          <a:stretch>
            <a:fillRect/>
          </a:stretch>
        </p:blipFill>
        <p:spPr>
          <a:xfrm>
            <a:off x="318770" y="2159000"/>
            <a:ext cx="11553825" cy="295021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598805" y="354330"/>
            <a:ext cx="609600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>
                <a:solidFill>
                  <a:srgbClr val="1F2329"/>
                </a:solidFill>
                <a:effectLst/>
                <a:uFillTx/>
                <a:latin typeface="Calibri" panose="020F0502020204030204"/>
                <a:sym typeface="+mn-ea"/>
              </a:rPr>
              <a:t>Felix W H Gou’s Contribution</a:t>
            </a:r>
            <a:endParaRPr lang="en-US" altLang="en-US" sz="3200" b="1">
              <a:solidFill>
                <a:srgbClr val="1F2329"/>
              </a:solidFill>
              <a:effectLst/>
              <a:uFillTx/>
              <a:latin typeface="Calibri" panose="020F0502020204030204"/>
              <a:sym typeface="+mn-ea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4" name="组合 23"/>
          <p:cNvGrpSpPr/>
          <p:nvPr/>
        </p:nvGrpSpPr>
        <p:grpSpPr>
          <a:xfrm>
            <a:off x="454978" y="1341120"/>
            <a:ext cx="11430000" cy="5303520"/>
            <a:chOff x="1224" y="2592"/>
            <a:chExt cx="18000" cy="8352"/>
          </a:xfrm>
        </p:grpSpPr>
        <p:sp>
          <p:nvSpPr>
            <p:cNvPr id="4" name="Rounded Rectangle 2"/>
            <p:cNvSpPr/>
            <p:nvPr/>
          </p:nvSpPr>
          <p:spPr>
            <a:xfrm>
              <a:off x="1224" y="2592"/>
              <a:ext cx="8352" cy="374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E8E8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3"/>
            <p:cNvSpPr/>
            <p:nvPr/>
          </p:nvSpPr>
          <p:spPr>
            <a:xfrm>
              <a:off x="1224" y="2592"/>
              <a:ext cx="8352" cy="115"/>
            </a:xfrm>
            <a:prstGeom prst="rect">
              <a:avLst/>
            </a:prstGeom>
            <a:solidFill>
              <a:srgbClr val="4A90D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4"/>
            <p:cNvSpPr txBox="1"/>
            <p:nvPr/>
          </p:nvSpPr>
          <p:spPr>
            <a:xfrm>
              <a:off x="1728" y="3096"/>
              <a:ext cx="864" cy="8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2800"/>
              </a:pPr>
              <a:r>
                <a:t>🌐</a:t>
              </a:r>
            </a:p>
          </p:txBody>
        </p:sp>
        <p:sp>
          <p:nvSpPr>
            <p:cNvPr id="7" name="TextBox 5"/>
            <p:cNvSpPr txBox="1"/>
            <p:nvPr/>
          </p:nvSpPr>
          <p:spPr>
            <a:xfrm>
              <a:off x="1728" y="4032"/>
              <a:ext cx="7344" cy="7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2000" b="1">
                  <a:solidFill>
                    <a:srgbClr val="2D2D2D"/>
                  </a:solidFill>
                  <a:latin typeface="Arial" panose="020B0604020202020204"/>
                </a:defRPr>
              </a:pPr>
              <a:r>
                <a:t>Internationalization (i18n)</a:t>
              </a:r>
            </a:p>
          </p:txBody>
        </p:sp>
        <p:sp>
          <p:nvSpPr>
            <p:cNvPr id="8" name="TextBox 6"/>
            <p:cNvSpPr txBox="1"/>
            <p:nvPr/>
          </p:nvSpPr>
          <p:spPr>
            <a:xfrm>
              <a:off x="1728" y="4752"/>
              <a:ext cx="7344" cy="129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400">
                  <a:solidFill>
                    <a:srgbClr val="666666"/>
                  </a:solidFill>
                  <a:latin typeface="Arial" panose="020B0604020202020204"/>
                </a:defRPr>
              </a:pPr>
              <a:r>
                <a:t>Multi-language support and locale-aware formatting for global users.</a:t>
              </a:r>
            </a:p>
          </p:txBody>
        </p:sp>
        <p:sp>
          <p:nvSpPr>
            <p:cNvPr id="9" name="Rounded Rectangle 7"/>
            <p:cNvSpPr/>
            <p:nvPr/>
          </p:nvSpPr>
          <p:spPr>
            <a:xfrm>
              <a:off x="10872" y="2592"/>
              <a:ext cx="8352" cy="374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E8E8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8"/>
            <p:cNvSpPr/>
            <p:nvPr/>
          </p:nvSpPr>
          <p:spPr>
            <a:xfrm>
              <a:off x="10872" y="2592"/>
              <a:ext cx="8352" cy="115"/>
            </a:xfrm>
            <a:prstGeom prst="rect">
              <a:avLst/>
            </a:prstGeom>
            <a:solidFill>
              <a:srgbClr val="7B68E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9"/>
            <p:cNvSpPr txBox="1"/>
            <p:nvPr/>
          </p:nvSpPr>
          <p:spPr>
            <a:xfrm>
              <a:off x="11376" y="3096"/>
              <a:ext cx="864" cy="8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2800"/>
              </a:pPr>
              <a:r>
                <a:t>⚡</a:t>
              </a:r>
            </a:p>
          </p:txBody>
        </p:sp>
        <p:sp>
          <p:nvSpPr>
            <p:cNvPr id="12" name="TextBox 10"/>
            <p:cNvSpPr txBox="1"/>
            <p:nvPr/>
          </p:nvSpPr>
          <p:spPr>
            <a:xfrm>
              <a:off x="11376" y="4032"/>
              <a:ext cx="7344" cy="7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2000" b="1">
                  <a:solidFill>
                    <a:srgbClr val="2D2D2D"/>
                  </a:solidFill>
                  <a:latin typeface="Arial" panose="020B0604020202020204"/>
                </a:defRPr>
              </a:pPr>
              <a:r>
                <a:t>Auto-Transition with Random Failure</a:t>
              </a:r>
            </a:p>
          </p:txBody>
        </p:sp>
        <p:sp>
          <p:nvSpPr>
            <p:cNvPr id="13" name="TextBox 11"/>
            <p:cNvSpPr txBox="1"/>
            <p:nvPr/>
          </p:nvSpPr>
          <p:spPr>
            <a:xfrm>
              <a:off x="11376" y="4752"/>
              <a:ext cx="7344" cy="129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400">
                  <a:solidFill>
                    <a:srgbClr val="666666"/>
                  </a:solidFill>
                  <a:latin typeface="Arial" panose="020B0604020202020204"/>
                </a:defRPr>
              </a:pPr>
              <a:r>
                <a:t>Simulated state transitions with configurable random failure injection.</a:t>
              </a:r>
            </a:p>
          </p:txBody>
        </p:sp>
        <p:sp>
          <p:nvSpPr>
            <p:cNvPr id="14" name="Rounded Rectangle 12"/>
            <p:cNvSpPr/>
            <p:nvPr/>
          </p:nvSpPr>
          <p:spPr>
            <a:xfrm>
              <a:off x="1224" y="7200"/>
              <a:ext cx="8352" cy="374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E8E8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3"/>
            <p:cNvSpPr/>
            <p:nvPr/>
          </p:nvSpPr>
          <p:spPr>
            <a:xfrm>
              <a:off x="1224" y="7200"/>
              <a:ext cx="8352" cy="115"/>
            </a:xfrm>
            <a:prstGeom prst="rect">
              <a:avLst/>
            </a:prstGeom>
            <a:solidFill>
              <a:srgbClr val="F5A623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4"/>
            <p:cNvSpPr txBox="1"/>
            <p:nvPr/>
          </p:nvSpPr>
          <p:spPr>
            <a:xfrm>
              <a:off x="1728" y="7704"/>
              <a:ext cx="864" cy="8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2800"/>
              </a:pPr>
              <a:r>
                <a:t>💰</a:t>
              </a:r>
            </a:p>
          </p:txBody>
        </p:sp>
        <p:sp>
          <p:nvSpPr>
            <p:cNvPr id="17" name="TextBox 15"/>
            <p:cNvSpPr txBox="1"/>
            <p:nvPr/>
          </p:nvSpPr>
          <p:spPr>
            <a:xfrm>
              <a:off x="1728" y="8640"/>
              <a:ext cx="7344" cy="7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2000" b="1">
                  <a:solidFill>
                    <a:srgbClr val="2D2D2D"/>
                  </a:solidFill>
                  <a:latin typeface="Arial" panose="020B0604020202020204"/>
                </a:defRPr>
              </a:pPr>
              <a:r>
                <a:t>Balance Sufficiency Check</a:t>
              </a:r>
            </a:p>
          </p:txBody>
        </p:sp>
        <p:sp>
          <p:nvSpPr>
            <p:cNvPr id="18" name="TextBox 16"/>
            <p:cNvSpPr txBox="1"/>
            <p:nvPr/>
          </p:nvSpPr>
          <p:spPr>
            <a:xfrm>
              <a:off x="1728" y="9360"/>
              <a:ext cx="7344" cy="129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400">
                  <a:solidFill>
                    <a:srgbClr val="666666"/>
                  </a:solidFill>
                  <a:latin typeface="Arial" panose="020B0604020202020204"/>
                </a:defRPr>
              </a:pPr>
              <a:r>
                <a:t>Real-time validation of account balance before transaction execution.</a:t>
              </a:r>
            </a:p>
          </p:txBody>
        </p:sp>
        <p:sp>
          <p:nvSpPr>
            <p:cNvPr id="19" name="Rounded Rectangle 17"/>
            <p:cNvSpPr/>
            <p:nvPr/>
          </p:nvSpPr>
          <p:spPr>
            <a:xfrm>
              <a:off x="10872" y="7200"/>
              <a:ext cx="8352" cy="374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E8E8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8"/>
            <p:cNvSpPr/>
            <p:nvPr/>
          </p:nvSpPr>
          <p:spPr>
            <a:xfrm>
              <a:off x="10872" y="7200"/>
              <a:ext cx="8352" cy="115"/>
            </a:xfrm>
            <a:prstGeom prst="rect">
              <a:avLst/>
            </a:prstGeom>
            <a:solidFill>
              <a:srgbClr val="50C87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TextBox 19"/>
            <p:cNvSpPr txBox="1"/>
            <p:nvPr/>
          </p:nvSpPr>
          <p:spPr>
            <a:xfrm>
              <a:off x="11376" y="7704"/>
              <a:ext cx="864" cy="8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2800"/>
              </a:pPr>
              <a:r>
                <a:t>📝</a:t>
              </a:r>
            </a:p>
          </p:txBody>
        </p:sp>
        <p:sp>
          <p:nvSpPr>
            <p:cNvPr id="22" name="TextBox 20"/>
            <p:cNvSpPr txBox="1"/>
            <p:nvPr/>
          </p:nvSpPr>
          <p:spPr>
            <a:xfrm>
              <a:off x="11376" y="8640"/>
              <a:ext cx="7344" cy="7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2000" b="1">
                  <a:solidFill>
                    <a:srgbClr val="2D2D2D"/>
                  </a:solidFill>
                  <a:latin typeface="Arial" panose="020B0604020202020204"/>
                </a:defRPr>
              </a:pPr>
              <a:r>
                <a:t>Test Documentation &amp; JUnit 5</a:t>
              </a:r>
            </a:p>
          </p:txBody>
        </p:sp>
        <p:sp>
          <p:nvSpPr>
            <p:cNvPr id="23" name="TextBox 21"/>
            <p:cNvSpPr txBox="1"/>
            <p:nvPr/>
          </p:nvSpPr>
          <p:spPr>
            <a:xfrm>
              <a:off x="11376" y="9360"/>
              <a:ext cx="7344" cy="129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400">
                  <a:solidFill>
                    <a:srgbClr val="666666"/>
                  </a:solidFill>
                  <a:latin typeface="Arial" panose="020B0604020202020204"/>
                </a:defRPr>
              </a:pPr>
              <a:r>
                <a:t>Comprehensive test docs and JUnit 5 unit tests for code reliability.</a:t>
              </a:r>
            </a:p>
          </p:txBody>
        </p:sp>
      </p:grpSp>
      <p:sp>
        <p:nvSpPr>
          <p:cNvPr id="25" name="文本框 24"/>
          <p:cNvSpPr txBox="1"/>
          <p:nvPr/>
        </p:nvSpPr>
        <p:spPr>
          <a:xfrm>
            <a:off x="598805" y="354330"/>
            <a:ext cx="609600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>
                <a:solidFill>
                  <a:srgbClr val="1F2329"/>
                </a:solidFill>
                <a:effectLst/>
                <a:uFillTx/>
                <a:latin typeface="Calibri" panose="020F0502020204030204"/>
                <a:sym typeface="+mn-ea"/>
              </a:rPr>
              <a:t>Vianne W Q Xu’s Contribution</a:t>
            </a:r>
            <a:endParaRPr lang="en-US" altLang="en-US" sz="3200" b="1">
              <a:solidFill>
                <a:srgbClr val="1F2329"/>
              </a:solidFill>
              <a:effectLst/>
              <a:uFillTx/>
              <a:latin typeface="Calibri" panose="020F0502020204030204"/>
              <a:sym typeface="+mn-ea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598805" y="354330"/>
            <a:ext cx="6096000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>
                <a:solidFill>
                  <a:srgbClr val="1F2329"/>
                </a:solidFill>
                <a:effectLst/>
                <a:uFillTx/>
                <a:latin typeface="Calibri" panose="020F0502020204030204"/>
                <a:sym typeface="+mn-ea"/>
              </a:rPr>
              <a:t>Mia W T Mai’s Contribution</a:t>
            </a:r>
            <a:endParaRPr lang="en-US" altLang="en-US" sz="3200" b="1">
              <a:solidFill>
                <a:srgbClr val="1F2329"/>
              </a:solidFill>
              <a:effectLst/>
              <a:uFillTx/>
              <a:latin typeface="Calibri" panose="020F0502020204030204"/>
              <a:sym typeface="+mn-ea"/>
            </a:endParaRPr>
          </a:p>
        </p:txBody>
      </p:sp>
      <p:grpSp>
        <p:nvGrpSpPr>
          <p:cNvPr id="33" name="组合 32"/>
          <p:cNvGrpSpPr/>
          <p:nvPr/>
        </p:nvGrpSpPr>
        <p:grpSpPr>
          <a:xfrm>
            <a:off x="380683" y="1263015"/>
            <a:ext cx="11430000" cy="5074920"/>
            <a:chOff x="864" y="1584"/>
            <a:chExt cx="18000" cy="7992"/>
          </a:xfrm>
        </p:grpSpPr>
        <p:sp>
          <p:nvSpPr>
            <p:cNvPr id="3" name="Rounded Rectangle 1"/>
            <p:cNvSpPr/>
            <p:nvPr/>
          </p:nvSpPr>
          <p:spPr>
            <a:xfrm>
              <a:off x="864" y="1584"/>
              <a:ext cx="5472" cy="36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E8E8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"/>
            <p:cNvSpPr/>
            <p:nvPr/>
          </p:nvSpPr>
          <p:spPr>
            <a:xfrm>
              <a:off x="864" y="1584"/>
              <a:ext cx="5472" cy="115"/>
            </a:xfrm>
            <a:prstGeom prst="rect">
              <a:avLst/>
            </a:prstGeom>
            <a:solidFill>
              <a:srgbClr val="4A90D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3"/>
            <p:cNvSpPr txBox="1"/>
            <p:nvPr/>
          </p:nvSpPr>
          <p:spPr>
            <a:xfrm>
              <a:off x="1296" y="2016"/>
              <a:ext cx="864" cy="8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2600"/>
              </a:pPr>
              <a:r>
                <a:t>🎨</a:t>
              </a:r>
            </a:p>
          </p:txBody>
        </p:sp>
        <p:sp>
          <p:nvSpPr>
            <p:cNvPr id="27" name="TextBox 4"/>
            <p:cNvSpPr txBox="1"/>
            <p:nvPr/>
          </p:nvSpPr>
          <p:spPr>
            <a:xfrm>
              <a:off x="1296" y="2952"/>
              <a:ext cx="4608" cy="7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800" b="1">
                  <a:solidFill>
                    <a:srgbClr val="2D2D2D"/>
                  </a:solidFill>
                  <a:latin typeface="Arial" panose="020B0604020202020204"/>
                </a:defRPr>
              </a:pPr>
              <a:r>
                <a:t>Global Design Systems</a:t>
              </a:r>
            </a:p>
          </p:txBody>
        </p:sp>
        <p:sp>
          <p:nvSpPr>
            <p:cNvPr id="28" name="TextBox 5"/>
            <p:cNvSpPr txBox="1"/>
            <p:nvPr/>
          </p:nvSpPr>
          <p:spPr>
            <a:xfrm>
              <a:off x="1296" y="3600"/>
              <a:ext cx="4608" cy="129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300">
                  <a:solidFill>
                    <a:srgbClr val="666666"/>
                  </a:solidFill>
                  <a:latin typeface="Arial" panose="020B0604020202020204"/>
                </a:defRPr>
              </a:pPr>
              <a:r>
                <a:t>CSS custom properties, gradient sets, and reusable component tokens.</a:t>
              </a:r>
            </a:p>
          </p:txBody>
        </p:sp>
        <p:sp>
          <p:nvSpPr>
            <p:cNvPr id="29" name="Rounded Rectangle 6"/>
            <p:cNvSpPr/>
            <p:nvPr/>
          </p:nvSpPr>
          <p:spPr>
            <a:xfrm>
              <a:off x="7128" y="1584"/>
              <a:ext cx="5472" cy="36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E8E8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7"/>
            <p:cNvSpPr/>
            <p:nvPr/>
          </p:nvSpPr>
          <p:spPr>
            <a:xfrm>
              <a:off x="7128" y="1584"/>
              <a:ext cx="5472" cy="115"/>
            </a:xfrm>
            <a:prstGeom prst="rect">
              <a:avLst/>
            </a:prstGeom>
            <a:solidFill>
              <a:srgbClr val="7B68E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8"/>
            <p:cNvSpPr txBox="1"/>
            <p:nvPr/>
          </p:nvSpPr>
          <p:spPr>
            <a:xfrm>
              <a:off x="7560" y="2016"/>
              <a:ext cx="864" cy="8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2600"/>
              </a:pPr>
              <a:r>
                <a:t>📄</a:t>
              </a:r>
            </a:p>
          </p:txBody>
        </p:sp>
        <p:sp>
          <p:nvSpPr>
            <p:cNvPr id="32" name="TextBox 9"/>
            <p:cNvSpPr txBox="1"/>
            <p:nvPr/>
          </p:nvSpPr>
          <p:spPr>
            <a:xfrm>
              <a:off x="7560" y="2952"/>
              <a:ext cx="4608" cy="7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800" b="1">
                  <a:solidFill>
                    <a:srgbClr val="2D2D2D"/>
                  </a:solidFill>
                  <a:latin typeface="Arial" panose="020B0604020202020204"/>
                </a:defRPr>
              </a:pPr>
              <a:r>
                <a:t>Four Core Pages</a:t>
              </a:r>
            </a:p>
          </p:txBody>
        </p:sp>
        <p:sp>
          <p:nvSpPr>
            <p:cNvPr id="34" name="TextBox 10"/>
            <p:cNvSpPr txBox="1"/>
            <p:nvPr/>
          </p:nvSpPr>
          <p:spPr>
            <a:xfrm>
              <a:off x="7560" y="3600"/>
              <a:ext cx="4608" cy="129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300">
                  <a:solidFill>
                    <a:srgbClr val="666666"/>
                  </a:solidFill>
                  <a:latin typeface="Arial" panose="020B0604020202020204"/>
                </a:defRPr>
              </a:pPr>
              <a:r>
                <a:t>Login, create user, detail, and overview pages.</a:t>
              </a:r>
            </a:p>
          </p:txBody>
        </p:sp>
        <p:sp>
          <p:nvSpPr>
            <p:cNvPr id="35" name="Rounded Rectangle 11"/>
            <p:cNvSpPr/>
            <p:nvPr/>
          </p:nvSpPr>
          <p:spPr>
            <a:xfrm>
              <a:off x="13392" y="1584"/>
              <a:ext cx="5472" cy="36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E8E8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12"/>
            <p:cNvSpPr/>
            <p:nvPr/>
          </p:nvSpPr>
          <p:spPr>
            <a:xfrm>
              <a:off x="13392" y="1584"/>
              <a:ext cx="5472" cy="115"/>
            </a:xfrm>
            <a:prstGeom prst="rect">
              <a:avLst/>
            </a:prstGeom>
            <a:solidFill>
              <a:srgbClr val="50C87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TextBox 13"/>
            <p:cNvSpPr txBox="1"/>
            <p:nvPr/>
          </p:nvSpPr>
          <p:spPr>
            <a:xfrm>
              <a:off x="13824" y="2016"/>
              <a:ext cx="864" cy="8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2600"/>
              </a:pPr>
              <a:r>
                <a:t>✅</a:t>
              </a:r>
            </a:p>
          </p:txBody>
        </p:sp>
        <p:sp>
          <p:nvSpPr>
            <p:cNvPr id="38" name="TextBox 14"/>
            <p:cNvSpPr txBox="1"/>
            <p:nvPr/>
          </p:nvSpPr>
          <p:spPr>
            <a:xfrm>
              <a:off x="13824" y="2952"/>
              <a:ext cx="4608" cy="7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800" b="1">
                  <a:solidFill>
                    <a:srgbClr val="2D2D2D"/>
                  </a:solidFill>
                  <a:latin typeface="Arial" panose="020B0604020202020204"/>
                </a:defRPr>
              </a:pPr>
              <a:r>
                <a:t>Smart Form Validation</a:t>
              </a:r>
            </a:p>
          </p:txBody>
        </p:sp>
        <p:sp>
          <p:nvSpPr>
            <p:cNvPr id="39" name="TextBox 15"/>
            <p:cNvSpPr txBox="1"/>
            <p:nvPr/>
          </p:nvSpPr>
          <p:spPr>
            <a:xfrm>
              <a:off x="13824" y="3600"/>
              <a:ext cx="4608" cy="129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300">
                  <a:solidFill>
                    <a:srgbClr val="666666"/>
                  </a:solidFill>
                  <a:latin typeface="Arial" panose="020B0604020202020204"/>
                </a:defRPr>
              </a:pPr>
              <a:r>
                <a:t>Input checks and hidden requirements with real-time validation.</a:t>
              </a:r>
            </a:p>
          </p:txBody>
        </p:sp>
        <p:sp>
          <p:nvSpPr>
            <p:cNvPr id="40" name="Rounded Rectangle 16"/>
            <p:cNvSpPr/>
            <p:nvPr/>
          </p:nvSpPr>
          <p:spPr>
            <a:xfrm>
              <a:off x="864" y="5976"/>
              <a:ext cx="5472" cy="36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E8E8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Rectangle 17"/>
            <p:cNvSpPr/>
            <p:nvPr/>
          </p:nvSpPr>
          <p:spPr>
            <a:xfrm>
              <a:off x="864" y="5976"/>
              <a:ext cx="5472" cy="115"/>
            </a:xfrm>
            <a:prstGeom prst="rect">
              <a:avLst/>
            </a:prstGeom>
            <a:solidFill>
              <a:srgbClr val="F5A623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" name="TextBox 18"/>
            <p:cNvSpPr txBox="1"/>
            <p:nvPr/>
          </p:nvSpPr>
          <p:spPr>
            <a:xfrm>
              <a:off x="1296" y="6408"/>
              <a:ext cx="864" cy="8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2600"/>
              </a:pPr>
              <a:r>
                <a:t>🏷️</a:t>
              </a:r>
            </a:p>
          </p:txBody>
        </p:sp>
        <p:sp>
          <p:nvSpPr>
            <p:cNvPr id="43" name="TextBox 19"/>
            <p:cNvSpPr txBox="1"/>
            <p:nvPr/>
          </p:nvSpPr>
          <p:spPr>
            <a:xfrm>
              <a:off x="1296" y="7344"/>
              <a:ext cx="4608" cy="7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800" b="1">
                  <a:solidFill>
                    <a:srgbClr val="2D2D2D"/>
                  </a:solidFill>
                  <a:latin typeface="Arial" panose="020B0604020202020204"/>
                </a:defRPr>
              </a:pPr>
              <a:r>
                <a:t>Visual Status Design</a:t>
              </a:r>
            </a:p>
          </p:txBody>
        </p:sp>
        <p:sp>
          <p:nvSpPr>
            <p:cNvPr id="44" name="TextBox 20"/>
            <p:cNvSpPr txBox="1"/>
            <p:nvPr/>
          </p:nvSpPr>
          <p:spPr>
            <a:xfrm>
              <a:off x="1296" y="7992"/>
              <a:ext cx="4608" cy="129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300">
                  <a:solidFill>
                    <a:srgbClr val="666666"/>
                  </a:solidFill>
                  <a:latin typeface="Arial" panose="020B0604020202020204"/>
                </a:defRPr>
              </a:pPr>
              <a:r>
                <a:t>Color-coded tags and status icons for quick reading.</a:t>
              </a:r>
            </a:p>
          </p:txBody>
        </p:sp>
        <p:sp>
          <p:nvSpPr>
            <p:cNvPr id="45" name="Rounded Rectangle 21"/>
            <p:cNvSpPr/>
            <p:nvPr/>
          </p:nvSpPr>
          <p:spPr>
            <a:xfrm>
              <a:off x="7128" y="5976"/>
              <a:ext cx="5472" cy="36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E8E8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" name="Rectangle 22"/>
            <p:cNvSpPr/>
            <p:nvPr/>
          </p:nvSpPr>
          <p:spPr>
            <a:xfrm>
              <a:off x="7128" y="5976"/>
              <a:ext cx="5472" cy="115"/>
            </a:xfrm>
            <a:prstGeom prst="rect">
              <a:avLst/>
            </a:prstGeom>
            <a:solidFill>
              <a:srgbClr val="E74C3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TextBox 23"/>
            <p:cNvSpPr txBox="1"/>
            <p:nvPr/>
          </p:nvSpPr>
          <p:spPr>
            <a:xfrm>
              <a:off x="7560" y="6408"/>
              <a:ext cx="864" cy="8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2600"/>
              </a:pPr>
              <a:r>
                <a:t>📋</a:t>
              </a:r>
            </a:p>
          </p:txBody>
        </p:sp>
        <p:sp>
          <p:nvSpPr>
            <p:cNvPr id="48" name="TextBox 24"/>
            <p:cNvSpPr txBox="1"/>
            <p:nvPr/>
          </p:nvSpPr>
          <p:spPr>
            <a:xfrm>
              <a:off x="7560" y="7344"/>
              <a:ext cx="4608" cy="7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800" b="1">
                  <a:solidFill>
                    <a:srgbClr val="2D2D2D"/>
                  </a:solidFill>
                  <a:latin typeface="Arial" panose="020B0604020202020204"/>
                </a:defRPr>
              </a:pPr>
              <a:r>
                <a:t>Audit Trail Timeline</a:t>
              </a:r>
            </a:p>
          </p:txBody>
        </p:sp>
        <p:sp>
          <p:nvSpPr>
            <p:cNvPr id="49" name="TextBox 25"/>
            <p:cNvSpPr txBox="1"/>
            <p:nvPr/>
          </p:nvSpPr>
          <p:spPr>
            <a:xfrm>
              <a:off x="7560" y="7992"/>
              <a:ext cx="4608" cy="129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300">
                  <a:solidFill>
                    <a:srgbClr val="666666"/>
                  </a:solidFill>
                  <a:latin typeface="Arial" panose="020B0604020202020204"/>
                </a:defRPr>
              </a:pPr>
              <a:r>
                <a:t>Step-by-step status history with timestamps and error details.</a:t>
              </a:r>
            </a:p>
          </p:txBody>
        </p:sp>
        <p:sp>
          <p:nvSpPr>
            <p:cNvPr id="50" name="Rounded Rectangle 26"/>
            <p:cNvSpPr/>
            <p:nvPr/>
          </p:nvSpPr>
          <p:spPr>
            <a:xfrm>
              <a:off x="13392" y="5976"/>
              <a:ext cx="5472" cy="36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E8E8E8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" name="Rectangle 27"/>
            <p:cNvSpPr/>
            <p:nvPr/>
          </p:nvSpPr>
          <p:spPr>
            <a:xfrm>
              <a:off x="13392" y="5976"/>
              <a:ext cx="5472" cy="115"/>
            </a:xfrm>
            <a:prstGeom prst="rect">
              <a:avLst/>
            </a:prstGeom>
            <a:solidFill>
              <a:srgbClr val="17A2B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" name="TextBox 28"/>
            <p:cNvSpPr txBox="1"/>
            <p:nvPr/>
          </p:nvSpPr>
          <p:spPr>
            <a:xfrm>
              <a:off x="13824" y="6408"/>
              <a:ext cx="864" cy="864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ctr">
                <a:defRPr sz="2600"/>
              </a:pPr>
              <a:r>
                <a:t>🔌</a:t>
              </a:r>
            </a:p>
          </p:txBody>
        </p:sp>
        <p:sp>
          <p:nvSpPr>
            <p:cNvPr id="53" name="TextBox 29"/>
            <p:cNvSpPr txBox="1"/>
            <p:nvPr/>
          </p:nvSpPr>
          <p:spPr>
            <a:xfrm>
              <a:off x="13824" y="7344"/>
              <a:ext cx="4608" cy="7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800" b="1">
                  <a:solidFill>
                    <a:srgbClr val="2D2D2D"/>
                  </a:solidFill>
                  <a:latin typeface="Arial" panose="020B0604020202020204"/>
                </a:defRPr>
              </a:pPr>
              <a:r>
                <a:t>Clean API Layer</a:t>
              </a:r>
            </a:p>
          </p:txBody>
        </p:sp>
        <p:sp>
          <p:nvSpPr>
            <p:cNvPr id="54" name="TextBox 30"/>
            <p:cNvSpPr txBox="1"/>
            <p:nvPr/>
          </p:nvSpPr>
          <p:spPr>
            <a:xfrm>
              <a:off x="13824" y="7992"/>
              <a:ext cx="4608" cy="129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 sz="1300">
                  <a:solidFill>
                    <a:srgbClr val="666666"/>
                  </a:solidFill>
                  <a:latin typeface="Arial" panose="020B0604020202020204"/>
                </a:defRPr>
              </a:pPr>
              <a:r>
                <a:t>Unified Axios calls with global error handling.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F2329"/>
                </a:solidFill>
              </a:rPr>
              <a:t>Live Demo </a:t>
            </a:r>
            <a:endParaRPr sz="3200" b="1">
              <a:solidFill>
                <a:srgbClr val="1F2329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36309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1. </a:t>
            </a:r>
            <a:r>
              <a:rPr lang="en-US" altLang="zh-CN" sz="2000" b="1">
                <a:solidFill>
                  <a:srgbClr val="1F2329"/>
                </a:solidFill>
              </a:rPr>
              <a:t>Create a payment, including validation for amount, currency, and account.</a:t>
            </a:r>
            <a:endParaRPr lang="en-US" altLang="zh-CN" sz="2000" b="1">
              <a:solidFill>
                <a:srgbClr val="1F2329"/>
              </a:solidFill>
            </a:endParaRP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2. </a:t>
            </a:r>
            <a:r>
              <a:rPr lang="en-US" altLang="zh-CN" sz="2000" b="1">
                <a:solidFill>
                  <a:srgbClr val="1F2329"/>
                </a:solidFill>
              </a:rPr>
              <a:t>Switch languages between Chinese, English, and German, and show how the UI text as well as the amount and date formats change accordingly.</a:t>
            </a:r>
            <a:endParaRPr lang="en-US" altLang="zh-CN" sz="2000" b="1">
              <a:solidFill>
                <a:srgbClr val="1F2329"/>
              </a:solidFill>
            </a:endParaRP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3. </a:t>
            </a:r>
            <a:r>
              <a:rPr lang="en-US" altLang="zh-CN" sz="2000" b="1">
                <a:solidFill>
                  <a:srgbClr val="1F2329"/>
                </a:solidFill>
              </a:rPr>
              <a:t>Open the detail page and demonstrate automatic polling, with the status progressing automatically from CREATED.</a:t>
            </a:r>
            <a:endParaRPr lang="en-US" altLang="zh-CN" sz="2000" b="1">
              <a:solidFill>
                <a:srgbClr val="1F2329"/>
              </a:solidFill>
            </a:endParaRP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4. </a:t>
            </a:r>
            <a:r>
              <a:rPr lang="en-US" altLang="zh-CN" sz="2000" b="1">
                <a:solidFill>
                  <a:srgbClr val="1F2329"/>
                </a:solidFill>
              </a:rPr>
              <a:t>Demonstrate a payment with insufficient funds by forcing it to change to FAILED / INSUFFICIENT_FUNDS.</a:t>
            </a:r>
            <a:endParaRPr lang="en-US" altLang="zh-CN" sz="2000" b="1">
              <a:solidFill>
                <a:srgbClr val="1F2329"/>
              </a:solidFill>
            </a:endParaRP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5.</a:t>
            </a:r>
            <a:r>
              <a:rPr lang="en-US" altLang="zh-CN" sz="2000" b="1">
                <a:solidFill>
                  <a:srgbClr val="1F2329"/>
                </a:solidFill>
              </a:rPr>
              <a:t>View the status history timeline (Audit Trail).</a:t>
            </a:r>
            <a:endParaRPr lang="en-US" altLang="zh-CN" sz="2000" b="1">
              <a:solidFill>
                <a:srgbClr val="1F2329"/>
              </a:solidFill>
            </a:endParaRP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6. </a:t>
            </a:r>
            <a:r>
              <a:rPr lang="en-US" altLang="zh-CN" sz="2000" b="1">
                <a:solidFill>
                  <a:srgbClr val="1F2329"/>
                </a:solidFill>
              </a:rPr>
              <a:t>Demonstrate the recycle bin: soft delete, then restore or permanently delete.</a:t>
            </a:r>
            <a:endParaRPr lang="en-US" altLang="zh-CN" sz="2000" b="1">
              <a:solidFill>
                <a:srgbClr val="1F2329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200" b="1">
                <a:solidFill>
                  <a:srgbClr val="1F2329"/>
                </a:solidFill>
              </a:rPr>
              <a:t>Summary</a:t>
            </a:r>
            <a:endParaRPr lang="en-US" sz="3200" b="1">
              <a:solidFill>
                <a:srgbClr val="1F2329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7837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</a:t>
            </a:r>
            <a:r>
              <a:rPr lang="en-US" altLang="zh-CN" sz="2000" b="1">
                <a:solidFill>
                  <a:srgbClr val="1F2329"/>
                </a:solidFill>
              </a:rPr>
              <a:t>This project is more than pages and APIs. It brings payment logic into a working system.</a:t>
            </a:r>
            <a:endParaRPr lang="en-US" altLang="zh-CN" sz="2000" b="1">
              <a:solidFill>
                <a:srgbClr val="1F2329"/>
              </a:solidFill>
            </a:endParaRP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</a:t>
            </a:r>
            <a:r>
              <a:rPr lang="en-US" altLang="zh-CN" sz="2000" b="1">
                <a:solidFill>
                  <a:srgbClr val="1F2329"/>
                </a:solidFill>
              </a:rPr>
              <a:t>We expanded basic CRUD into a fuller prototype.</a:t>
            </a:r>
            <a:endParaRPr lang="en-US" altLang="zh-CN" sz="2000" b="1">
              <a:solidFill>
                <a:srgbClr val="1F2329"/>
              </a:solidFill>
            </a:endParaRP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</a:t>
            </a:r>
            <a:r>
              <a:rPr lang="en-US" altLang="zh-CN" sz="2000" b="1">
                <a:solidFill>
                  <a:srgbClr val="1F2329"/>
                </a:solidFill>
              </a:rPr>
              <a:t>The system covers status, errors, recovery, scheduling, and testing.</a:t>
            </a:r>
            <a:endParaRPr lang="en-US" altLang="zh-CN" sz="2000" b="1">
              <a:solidFill>
                <a:srgbClr val="1F2329"/>
              </a:solidFill>
            </a:endParaRP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F2329"/>
                </a:solidFill>
              </a:rPr>
              <a:t>• </a:t>
            </a:r>
            <a:r>
              <a:rPr lang="en-US" altLang="zh-CN" sz="2000" b="1">
                <a:solidFill>
                  <a:srgbClr val="1F2329"/>
                </a:solidFill>
              </a:rPr>
              <a:t>It shows our understanding of business workflows, and also improved our engineering skills.</a:t>
            </a:r>
            <a:endParaRPr sz="2000" b="1">
              <a:solidFill>
                <a:srgbClr val="1F2329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0"/>
            <a:ext cx="10972800" cy="768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4400" b="1">
                <a:solidFill>
                  <a:srgbClr val="FFFFFF"/>
                </a:solidFill>
              </a:rPr>
              <a:t>Thanks for listening</a:t>
            </a:r>
            <a:endParaRPr lang="en-US" sz="4400" b="1">
              <a:solidFill>
                <a:srgbClr val="FFFFFF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3657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BEAFE"/>
                </a:solidFill>
              </a:rPr>
              <a:t>Q &amp; A</a:t>
            </a:r>
            <a:endParaRPr sz="2400">
              <a:solidFill>
                <a:srgbClr val="DBEAFE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3863</Words>
  <Application>WPS 演示</Application>
  <PresentationFormat>On-screen Show (4:3)</PresentationFormat>
  <Paragraphs>143</Paragraphs>
  <Slides>16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6" baseType="lpstr">
      <vt:lpstr>Arial</vt:lpstr>
      <vt:lpstr>宋体</vt:lpstr>
      <vt:lpstr>Wingdings</vt:lpstr>
      <vt:lpstr>Arial</vt:lpstr>
      <vt:lpstr>Wingdings</vt:lpstr>
      <vt:lpstr>Calibri</vt:lpstr>
      <vt:lpstr>微软雅黑</vt:lpstr>
      <vt:lpstr>Arial Unicode MS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姬野星奏</cp:lastModifiedBy>
  <cp:revision>11</cp:revision>
  <dcterms:created xsi:type="dcterms:W3CDTF">2013-01-27T09:14:00Z</dcterms:created>
  <dcterms:modified xsi:type="dcterms:W3CDTF">2026-07-29T05:41:37Z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2052-12.1.0.26375</vt:lpwstr>
  </property>
  <property fmtid="{D5CDD505-2E9C-101B-9397-08002B2CF9AE}" pid="3" name="ICV">
    <vt:lpwstr>390511B7D5784B47B6251616A8E0DD2D_13</vt:lpwstr>
  </property>
</Properties>
</file>