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77" r:id="rId9"/>
    <p:sldId id="262" r:id="rId10"/>
    <p:sldId id="275" r:id="rId11"/>
    <p:sldId id="278" r:id="rId12"/>
    <p:sldId id="263" r:id="rId13"/>
    <p:sldId id="274" r:id="rId14"/>
    <p:sldId id="268" r:id="rId15"/>
    <p:sldId id="270" r:id="rId16"/>
    <p:sldId id="279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Good morning/afternoon everyone. Welcome to our course project presentation.</a:t>
            </a:r>
            <a:endParaRPr lang="en-US" altLang="zh-CN"/>
          </a:p>
          <a:p>
            <a:r>
              <a:rPr lang="en-US" altLang="zh-CN"/>
              <a:t>Today we will show you our Payments Processing System – a complete lifecycle management system for financial payments.</a:t>
            </a:r>
            <a:endParaRPr lang="en-US" altLang="zh-CN"/>
          </a:p>
          <a:p>
            <a:r>
              <a:rPr lang="en-US" altLang="zh-CN"/>
              <a:t>We built it with Spring Boot 3 on the backend, and Vue 3 on the frontend.</a:t>
            </a:r>
            <a:endParaRPr lang="en-US" altLang="zh-CN"/>
          </a:p>
          <a:p>
            <a:r>
              <a:rPr lang="en-US" altLang="zh-CN"/>
              <a:t>Let’s walk through what we did, how it works, and what I personally contributed.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Here is our agenda for today.</a:t>
            </a:r>
            <a:endParaRPr lang="en-US" altLang="zh-CN"/>
          </a:p>
          <a:p>
            <a:r>
              <a:rPr lang="en-US" altLang="zh-CN"/>
              <a:t>We’ll start with the project background and goals.</a:t>
            </a:r>
            <a:endParaRPr lang="en-US" altLang="zh-CN"/>
          </a:p>
          <a:p>
            <a:r>
              <a:rPr lang="en-US" altLang="zh-CN"/>
              <a:t>After that, we’ll show the system design and tech stack.</a:t>
            </a:r>
            <a:endParaRPr lang="en-US" altLang="zh-CN"/>
          </a:p>
          <a:p>
            <a:r>
              <a:rPr lang="en-US" altLang="zh-CN"/>
              <a:t>Then we’ll share our contributions in detail.</a:t>
            </a:r>
            <a:endParaRPr lang="en-US" altLang="zh-CN"/>
          </a:p>
          <a:p>
            <a:r>
              <a:rPr lang="en-US" altLang="zh-CN">
                <a:sym typeface="+mn-ea"/>
              </a:rPr>
              <a:t>We’ll do a live demo of the main features.</a:t>
            </a:r>
            <a:endParaRPr lang="en-US" altLang="zh-CN"/>
          </a:p>
          <a:p>
            <a:r>
              <a:rPr lang="en-US" altLang="zh-CN"/>
              <a:t>Finally, we’ll cover testing and summary.</a:t>
            </a:r>
            <a:endParaRPr lang="en-US" altLang="zh-CN"/>
          </a:p>
          <a:p>
            <a:r>
              <a:rPr lang="en-US" altLang="zh-CN"/>
              <a:t>Feel free to ask questions at the end.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This project is a full-stack development training exercise. We are simulating a real-world payment system lifecycle – the kind you would find in a bank or a fintech company. The goal is to give us hands-on experience with REST APIs, database design, and frontend integration, all while following professional teamwork practices."</a:t>
            </a:r>
            <a:endParaRPr lang="en-US" altLang="zh-CN"/>
          </a:p>
          <a:p>
            <a:r>
              <a:rPr lang="en-US" altLang="zh-CN"/>
              <a:t>Our primary goal is to build a complete payment lifecycle management system. This means we handle a payment from the moment it is created, through validation, then sending, and finally either completion or failure. In other words, we cover the entire journey of a financial transaction."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On the frontend, we use Vue 3 with Element Plus for UI components, vue-router for navigation, and vue-i18n for three languages: English, Chinese, and German.</a:t>
            </a:r>
            <a:endParaRPr lang="en-US" altLang="zh-CN"/>
          </a:p>
          <a:p>
            <a:r>
              <a:rPr lang="en-US" altLang="zh-CN"/>
              <a:t>On the backend, it’s Spring Boot 3, MyBatis-Plus for database access, and MySQL. We follow a clear layered architecture: Controller, Service, Validator, and State Machine.</a:t>
            </a:r>
            <a:endParaRPr lang="en-US" altLang="zh-CN"/>
          </a:p>
          <a:p>
            <a:r>
              <a:rPr lang="en-US" altLang="zh-CN"/>
              <a:t>All API responses follow a uniform format: { success, data, errorCode, message }.</a:t>
            </a:r>
            <a:endParaRPr lang="en-US" altLang="zh-CN"/>
          </a:p>
          <a:p>
            <a:r>
              <a:rPr lang="en-US" altLang="zh-CN"/>
              <a:t>We have global exception handling using @RestControllerAdvice to convert errors into that same format.</a:t>
            </a:r>
            <a:endParaRPr lang="en-US" altLang="zh-CN"/>
          </a:p>
          <a:p>
            <a:r>
              <a:rPr lang="en-US" altLang="zh-CN"/>
              <a:t>We also provide Swagger/OpenAPI documentation for all endpoints.</a:t>
            </a:r>
            <a:endParaRPr lang="en-US" altLang="zh-CN"/>
          </a:p>
          <a:p>
            <a:r>
              <a:rPr lang="en-US" altLang="zh-CN"/>
              <a:t>And we have a scheduled task that simulates network delay – it automatically advances payments asynchronously.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Let me quickly list the main features we built:</a:t>
            </a:r>
            <a:endParaRPr lang="en-US" altLang="zh-CN"/>
          </a:p>
          <a:p>
            <a:r>
              <a:rPr lang="en-US" altLang="zh-CN"/>
              <a:t>Create a payment with an idempotency key to prevent duplicate submissions.</a:t>
            </a:r>
            <a:endParaRPr lang="en-US" altLang="zh-CN"/>
          </a:p>
          <a:p>
            <a:r>
              <a:rPr lang="en-US" altLang="zh-CN"/>
              <a:t>View payment details, including failure error details.</a:t>
            </a:r>
            <a:endParaRPr lang="en-US" altLang="zh-CN"/>
          </a:p>
          <a:p>
            <a:r>
              <a:rPr lang="en-US" altLang="zh-CN"/>
              <a:t>See the full audit trail – the history timeline of state changes.</a:t>
            </a:r>
            <a:endParaRPr lang="en-US" altLang="zh-CN"/>
          </a:p>
          <a:p>
            <a:r>
              <a:rPr lang="en-US" altLang="zh-CN"/>
              <a:t>List all payments with filtering by status and pagination.</a:t>
            </a:r>
            <a:endParaRPr lang="en-US" altLang="zh-CN"/>
          </a:p>
          <a:p>
            <a:r>
              <a:rPr lang="en-US" altLang="zh-CN"/>
              <a:t>A recycle bin – for soft delete, restore, and permanent delete – with a 30‑day retention rule.</a:t>
            </a:r>
            <a:endParaRPr lang="en-US" altLang="zh-CN"/>
          </a:p>
          <a:p>
            <a:r>
              <a:rPr lang="en-US" altLang="zh-CN"/>
              <a:t>And manual state transition endpoints – these are useful for demos and testing.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 designed and implemented the multi-language feature on the frontend.</a:t>
            </a:r>
            <a:endParaRPr lang="en-US" altLang="zh-CN"/>
          </a:p>
          <a:p>
            <a:r>
              <a:rPr lang="en-US" altLang="zh-CN"/>
              <a:t>I added vue-i18n to support Chinese, English, and German.</a:t>
            </a:r>
            <a:endParaRPr lang="en-US" altLang="zh-CN"/>
          </a:p>
          <a:p>
            <a:r>
              <a:rPr lang="en-US" altLang="zh-CN"/>
              <a:t>On first visit, the system detects the browser language automatically. After that, the user’s choice is saved in localStorage.</a:t>
            </a:r>
            <a:endParaRPr lang="en-US" altLang="zh-CN"/>
          </a:p>
          <a:p>
            <a:r>
              <a:rPr lang="en-US" altLang="zh-CN"/>
              <a:t>Error codes are mapped to localized messages on the frontend, which gives better user experience than using backend-fixed messages.</a:t>
            </a:r>
            <a:endParaRPr lang="en-US" altLang="zh-CN"/>
          </a:p>
          <a:p>
            <a:r>
              <a:rPr lang="en-US" altLang="zh-CN"/>
              <a:t>Importantly, all these changes are only on the frontend – no backend changes were needed.</a:t>
            </a:r>
            <a:endParaRPr lang="en-US" altLang="zh-CN"/>
          </a:p>
          <a:p>
            <a:r>
              <a:rPr lang="en-US" altLang="zh-CN"/>
              <a:t>(</a:t>
            </a:r>
            <a:r>
              <a:rPr lang="zh-CN" altLang="en-US"/>
              <a:t>为什么使用</a:t>
            </a:r>
            <a:r>
              <a:rPr lang="en-US" altLang="zh-CN"/>
              <a:t>vue-i18n</a:t>
            </a:r>
            <a:r>
              <a:rPr lang="zh-CN" altLang="en-US"/>
              <a:t>是因为手动实现需要遍历</a:t>
            </a:r>
            <a:r>
              <a:rPr lang="en-US" altLang="zh-CN"/>
              <a:t>dom</a:t>
            </a:r>
            <a:r>
              <a:rPr lang="zh-CN" altLang="en-US"/>
              <a:t>树，这样可以通过</a:t>
            </a:r>
            <a:r>
              <a:rPr lang="en-US" altLang="zh-CN"/>
              <a:t>t()</a:t>
            </a:r>
            <a:r>
              <a:rPr lang="zh-CN" altLang="en-US"/>
              <a:t>自动绑定，支持语言包懒加载，更快实现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Originally, the auto-transition always ended in COMPLETED – so we couldn’t show the FAILED path.</a:t>
            </a:r>
            <a:endParaRPr lang="en-US" altLang="zh-CN"/>
          </a:p>
          <a:p>
            <a:r>
              <a:rPr lang="en-US" altLang="zh-CN"/>
              <a:t>I added a configurable failure-probability, set to 20% by default.</a:t>
            </a:r>
            <a:endParaRPr lang="en-US" altLang="zh-CN"/>
          </a:p>
          <a:p>
            <a:r>
              <a:rPr lang="en-US" altLang="zh-CN"/>
              <a:t>When a failure is triggered, the system picks a realistic error code – like PROCESSING_ERROR or NETWORK_ERROR – depending on the current stage.</a:t>
            </a:r>
            <a:endParaRPr lang="en-US" altLang="zh-CN"/>
          </a:p>
          <a:p>
            <a:r>
              <a:rPr lang="en-US" altLang="zh-CN"/>
              <a:t>With a 20% chance per step we can demo both happy and failure paths.</a:t>
            </a:r>
            <a:endParaRPr lang="en-US" altLang="zh-CN"/>
          </a:p>
          <a:p>
            <a:r>
              <a:rPr lang="en-US" altLang="zh-CN"/>
              <a:t>But we made sure that real business rules – like balance checks – always take priority over the random demo logic.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requirement was to check if the account has enough balance – but we do not deduct any money, and we don’t handle concurrency conflicts. The balance never changes.</a:t>
            </a:r>
            <a:endParaRPr lang="en-US" altLang="zh-CN"/>
          </a:p>
          <a:p>
            <a:r>
              <a:rPr lang="en-US" altLang="zh-CN"/>
              <a:t>I added a balance field to the payment table via a separate migration script – without modifying the original schema.</a:t>
            </a:r>
            <a:endParaRPr lang="en-US" altLang="zh-CN"/>
          </a:p>
          <a:p>
            <a:r>
              <a:rPr lang="en-US" altLang="zh-CN"/>
              <a:t>The method hasSufficientBalance() performs a read‑only query – no UPDATE at all.</a:t>
            </a:r>
            <a:endParaRPr lang="en-US" altLang="zh-CN"/>
          </a:p>
          <a:p>
            <a:r>
              <a:rPr lang="en-US" altLang="zh-CN"/>
              <a:t>This check is triggered only during the CREATED→VALIDATED transition.</a:t>
            </a:r>
            <a:endParaRPr lang="en-US" altLang="zh-CN"/>
          </a:p>
          <a:p>
            <a:r>
              <a:rPr lang="en-US" altLang="zh-CN"/>
              <a:t>If the balance is insufficient, the target state is forced to FAILED with error code INSUFFICIENT_FUNDS.</a:t>
            </a:r>
            <a:endParaRPr lang="en-US" altLang="zh-CN"/>
          </a:p>
          <a:p>
            <a:r>
              <a:rPr lang="en-US" altLang="zh-CN"/>
              <a:t>Both the manual API and the scheduled auto‑transition reuse the same validation logic.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 wrote a test cases document – test-cases.md – with many test cases covering core scenarios.I only completed half of it; the other half was done by another colleague.</a:t>
            </a:r>
            <a:endParaRPr lang="en-US" altLang="zh-CN"/>
          </a:p>
          <a:p>
            <a:r>
              <a:rPr lang="en-US" altLang="zh-CN"/>
              <a:t>I wrote the paymentvalidatortest class.</a:t>
            </a:r>
            <a:endParaRPr lang="en-US" altLang="zh-CN"/>
          </a:p>
          <a:p>
            <a:r>
              <a:rPr lang="en-US" altLang="zh-CN"/>
              <a:t>PaymentValidatorTest – 15 cases covering amount, account, and balance checks.</a:t>
            </a:r>
            <a:endParaRPr lang="en-US" altLang="zh-CN"/>
          </a:p>
          <a:p>
            <a:r>
              <a:rPr lang="en-US" altLang="zh-CN"/>
              <a:t>PaymentStateMachineTest – uses parameterized tests to cover 25 state transition combinations.</a:t>
            </a:r>
            <a:endParaRPr lang="en-US" altLang="zh-CN"/>
          </a:p>
          <a:p>
            <a:r>
              <a:rPr lang="en-US" altLang="zh-CN"/>
              <a:t>PaymentServiceImplTest – covers state parsing and optimistic lock scenarios, as they exist in the current code.</a:t>
            </a:r>
            <a:endParaRPr lang="en-US" altLang="zh-CN"/>
          </a:p>
          <a:p>
            <a:r>
              <a:rPr lang="en-US" altLang="zh-CN"/>
              <a:t>All tests use Mockito to isolate the database and background scheduler – so they are stable and repeatable.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283" y="2377440"/>
            <a:ext cx="109728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Payments Processing System</a:t>
            </a:r>
            <a:endParaRPr sz="6000" b="1">
              <a:solidFill>
                <a:srgbClr val="FFFFFF"/>
              </a:solidFill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609283" y="4373880"/>
            <a:ext cx="10972800" cy="176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3200" b="1">
                <a:solidFill>
                  <a:srgbClr val="FFFFFF"/>
                </a:solidFill>
              </a:rPr>
              <a:t>Presenter: Felix, Ellan, Vianne, Mia</a:t>
            </a:r>
            <a:endParaRPr lang="en-US" sz="3200" b="1">
              <a:solidFill>
                <a:srgbClr val="FFFFFF"/>
              </a:solidFill>
            </a:endParaRPr>
          </a:p>
          <a:p>
            <a:pPr algn="ctr">
              <a:lnSpc>
                <a:spcPct val="170000"/>
              </a:lnSpc>
            </a:pPr>
            <a:r>
              <a:rPr lang="en-US" sz="3200" b="1">
                <a:solidFill>
                  <a:srgbClr val="FFFFFF"/>
                </a:solidFill>
              </a:rPr>
              <a:t>2026.7.31</a:t>
            </a:r>
            <a:endParaRPr lang="en-US" sz="3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 Agenda</a:t>
            </a:r>
            <a:endParaRPr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664970"/>
            <a:ext cx="10515600" cy="421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altLang="zh-CN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roject Background and Goals</a:t>
            </a:r>
            <a:endParaRPr lang="en-US" altLang="zh-CN"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ystem Architechure</a:t>
            </a:r>
            <a:endParaRPr lang="en-US" altLang="zh-CN"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</a:t>
            </a:r>
            <a:r>
              <a:rPr lang="en-US" altLang="zh-CN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Core Feature Modules Overview</a:t>
            </a:r>
            <a:endParaRPr lang="en-US" altLang="zh-CN"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Our Contribution</a:t>
            </a:r>
            <a:endParaRPr lang="en-US"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Live Demo</a:t>
            </a:r>
            <a:endParaRPr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US" sz="28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 Summary</a:t>
            </a:r>
            <a:endParaRPr lang="en-US"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Project Background and Goals</a:t>
            </a:r>
            <a:endParaRPr lang="en-US" altLang="zh-CN"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9125" y="1626235"/>
            <a:ext cx="11466830" cy="407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Project background</a:t>
            </a:r>
            <a:endParaRPr sz="32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10000"/>
              </a:lnSpc>
              <a:spcAft>
                <a:spcPts val="120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Full-stack development hands-on training that simulates a real-world payment system lifecycle.</a:t>
            </a:r>
            <a:endParaRPr sz="28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Goals</a:t>
            </a:r>
            <a:endParaRPr lang="en-US" sz="32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10000"/>
              </a:lnSpc>
              <a:spcAft>
                <a:spcPts val="1200"/>
              </a:spcAft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Build a payment full-lifecycle management system: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10000"/>
              </a:lnSpc>
              <a:spcAft>
                <a:spcPts val="1200"/>
              </a:spcAft>
            </a:pPr>
            <a:endParaRPr lang="en-US" altLang="zh-CN" sz="20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spcAft>
                <a:spcPts val="1200"/>
              </a:spcAft>
            </a:pPr>
            <a:endParaRPr lang="en-US" altLang="zh-CN" sz="20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-93" b="17202"/>
          <a:stretch>
            <a:fillRect/>
          </a:stretch>
        </p:blipFill>
        <p:spPr>
          <a:xfrm>
            <a:off x="1654810" y="4671060"/>
            <a:ext cx="8860155" cy="1717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US" altLang="zh-CN"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04515" y="5006340"/>
            <a:ext cx="59829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Fig.1 Application Layer Architecture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38748" y="2016125"/>
            <a:ext cx="11913870" cy="2693670"/>
            <a:chOff x="15" y="3175"/>
            <a:chExt cx="18762" cy="4242"/>
          </a:xfrm>
        </p:grpSpPr>
        <p:sp>
          <p:nvSpPr>
            <p:cNvPr id="3" name="Rectangle 1"/>
            <p:cNvSpPr/>
            <p:nvPr/>
          </p:nvSpPr>
          <p:spPr>
            <a:xfrm>
              <a:off x="15" y="3223"/>
              <a:ext cx="5760" cy="4193"/>
            </a:xfrm>
            <a:prstGeom prst="rect">
              <a:avLst/>
            </a:prstGeom>
            <a:solidFill>
              <a:srgbClr val="FFFACD"/>
            </a:solidFill>
            <a:ln w="25400">
              <a:solidFill>
                <a:srgbClr val="DAA5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Rectangle 2"/>
            <p:cNvSpPr/>
            <p:nvPr/>
          </p:nvSpPr>
          <p:spPr>
            <a:xfrm>
              <a:off x="7056" y="3175"/>
              <a:ext cx="6480" cy="4241"/>
            </a:xfrm>
            <a:prstGeom prst="rect">
              <a:avLst/>
            </a:prstGeom>
            <a:solidFill>
              <a:srgbClr val="FFFACD"/>
            </a:solidFill>
            <a:ln w="25400">
              <a:solidFill>
                <a:srgbClr val="DAA5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Rectangle 3"/>
            <p:cNvSpPr/>
            <p:nvPr/>
          </p:nvSpPr>
          <p:spPr>
            <a:xfrm>
              <a:off x="14457" y="3175"/>
              <a:ext cx="4320" cy="4242"/>
            </a:xfrm>
            <a:prstGeom prst="rect">
              <a:avLst/>
            </a:prstGeom>
            <a:solidFill>
              <a:srgbClr val="FFFACD"/>
            </a:solidFill>
            <a:ln w="25400">
              <a:solidFill>
                <a:srgbClr val="DAA5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15" y="3345"/>
              <a:ext cx="5760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Frontend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7056" y="3300"/>
              <a:ext cx="6480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Backend: Spring Boot 3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TextBox 6"/>
            <p:cNvSpPr txBox="1"/>
            <p:nvPr/>
          </p:nvSpPr>
          <p:spPr>
            <a:xfrm>
              <a:off x="14457" y="3300"/>
              <a:ext cx="4320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Database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Rectangle 7"/>
            <p:cNvSpPr/>
            <p:nvPr/>
          </p:nvSpPr>
          <p:spPr>
            <a:xfrm>
              <a:off x="447" y="4244"/>
              <a:ext cx="4896" cy="1856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1B4F7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Rectangle 8"/>
            <p:cNvSpPr/>
            <p:nvPr/>
          </p:nvSpPr>
          <p:spPr>
            <a:xfrm>
              <a:off x="7488" y="4244"/>
              <a:ext cx="5616" cy="1856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47" y="4608"/>
              <a:ext cx="489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2000" b="1">
                  <a:latin typeface="Times New Roman" panose="02020603050405020304" charset="0"/>
                  <a:cs typeface="Times New Roman" panose="02020603050405020304" charset="0"/>
                </a:rPr>
                <a:t>Vue 3 + Element Plus</a:t>
              </a:r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47" y="5400"/>
              <a:ext cx="489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2000" b="1">
                  <a:latin typeface="Times New Roman" panose="02020603050405020304" charset="0"/>
                  <a:cs typeface="Times New Roman" panose="02020603050405020304" charset="0"/>
                </a:rPr>
                <a:t>vue-router + vue-i18n</a:t>
              </a:r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TextBox 11"/>
            <p:cNvSpPr txBox="1"/>
            <p:nvPr/>
          </p:nvSpPr>
          <p:spPr>
            <a:xfrm>
              <a:off x="7488" y="4608"/>
              <a:ext cx="56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2000" b="1">
                  <a:latin typeface="Times New Roman" panose="02020603050405020304" charset="0"/>
                  <a:cs typeface="Times New Roman" panose="02020603050405020304" charset="0"/>
                </a:rPr>
                <a:t>Controller / Service / Validator</a:t>
              </a:r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7488" y="5400"/>
              <a:ext cx="56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2000" b="1">
                  <a:latin typeface="Times New Roman" panose="02020603050405020304" charset="0"/>
                  <a:cs typeface="Times New Roman" panose="02020603050405020304" charset="0"/>
                </a:rPr>
                <a:t>StateMachine / MyBatis-Plus</a:t>
              </a:r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Can 13"/>
            <p:cNvSpPr/>
            <p:nvPr/>
          </p:nvSpPr>
          <p:spPr>
            <a:xfrm>
              <a:off x="15465" y="4248"/>
              <a:ext cx="2304" cy="2200"/>
            </a:xfrm>
            <a:prstGeom prst="can">
              <a:avLst/>
            </a:prstGeom>
            <a:solidFill>
              <a:srgbClr val="FFFFFF"/>
            </a:solidFill>
            <a:ln w="31750">
              <a:solidFill>
                <a:srgbClr val="1B4F7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5465" y="5089"/>
              <a:ext cx="2304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700" b="1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MySQL</a:t>
              </a:r>
              <a:endParaRPr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Right Arrow 16"/>
            <p:cNvSpPr/>
            <p:nvPr/>
          </p:nvSpPr>
          <p:spPr>
            <a:xfrm>
              <a:off x="5807" y="5236"/>
              <a:ext cx="1188" cy="192"/>
            </a:xfrm>
            <a:prstGeom prst="rightArrow">
              <a:avLst/>
            </a:prstGeom>
            <a:solidFill>
              <a:srgbClr val="6666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7" y="4724"/>
              <a:ext cx="1728" cy="1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 sz="14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1600" b="1">
                  <a:latin typeface="Times New Roman" panose="02020603050405020304" charset="0"/>
                  <a:cs typeface="Times New Roman" panose="02020603050405020304" charset="0"/>
                </a:rPr>
                <a:t>HTTP</a:t>
              </a:r>
              <a:endParaRPr sz="16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lnSpc>
                  <a:spcPct val="130000"/>
                </a:lnSpc>
                <a:defRPr sz="1400" b="0">
                  <a:solidFill>
                    <a:srgbClr val="333333"/>
                  </a:solidFill>
                  <a:latin typeface="Calibri" panose="020F0502020204030204"/>
                </a:defRPr>
              </a:pPr>
              <a:r>
                <a:rPr sz="1600" b="1">
                  <a:latin typeface="Times New Roman" panose="02020603050405020304" charset="0"/>
                  <a:cs typeface="Times New Roman" panose="02020603050405020304" charset="0"/>
                </a:rPr>
                <a:t>API</a:t>
              </a:r>
              <a:endParaRPr sz="16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Right Arrow 16"/>
            <p:cNvSpPr/>
            <p:nvPr/>
          </p:nvSpPr>
          <p:spPr>
            <a:xfrm>
              <a:off x="13597" y="5208"/>
              <a:ext cx="860" cy="189"/>
            </a:xfrm>
            <a:prstGeom prst="rightArrow">
              <a:avLst/>
            </a:prstGeom>
            <a:solidFill>
              <a:srgbClr val="6666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Core Feature Modules Overview</a:t>
            </a:r>
            <a:endParaRPr lang="en-US" altLang="zh-CN"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0515600" cy="447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Payment creation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Payment details view + failure error details display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Payment status history timeline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Payment list retrieval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Recycle bin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Manual status transition interface</a:t>
            </a:r>
            <a:endParaRPr lang="en-US" altLang="zh-CN" sz="2800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37530"/>
          <a:stretch>
            <a:fillRect/>
          </a:stretch>
        </p:blipFill>
        <p:spPr>
          <a:xfrm>
            <a:off x="1039178" y="298450"/>
            <a:ext cx="10113010" cy="6261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>
                <a:solidFill>
                  <a:srgbClr val="FFFFFF"/>
                </a:solidFill>
              </a:rPr>
              <a:t>Our Contribution</a:t>
            </a:r>
            <a:endParaRPr lang="en-US" sz="4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454978" y="1341120"/>
            <a:ext cx="11430000" cy="5303520"/>
            <a:chOff x="1224" y="2592"/>
            <a:chExt cx="18000" cy="8352"/>
          </a:xfrm>
        </p:grpSpPr>
        <p:sp>
          <p:nvSpPr>
            <p:cNvPr id="4" name="Rounded Rectangle 2"/>
            <p:cNvSpPr/>
            <p:nvPr/>
          </p:nvSpPr>
          <p:spPr>
            <a:xfrm>
              <a:off x="1224" y="2592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" name="Rectangle 3"/>
            <p:cNvSpPr/>
            <p:nvPr/>
          </p:nvSpPr>
          <p:spPr>
            <a:xfrm>
              <a:off x="1224" y="2592"/>
              <a:ext cx="8352" cy="11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Rounded Rectangle 7"/>
            <p:cNvSpPr/>
            <p:nvPr/>
          </p:nvSpPr>
          <p:spPr>
            <a:xfrm>
              <a:off x="10872" y="2592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Rectangle 8"/>
            <p:cNvSpPr/>
            <p:nvPr/>
          </p:nvSpPr>
          <p:spPr>
            <a:xfrm>
              <a:off x="10872" y="2592"/>
              <a:ext cx="8352" cy="115"/>
            </a:xfrm>
            <a:prstGeom prst="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11274" y="3096"/>
              <a:ext cx="1068" cy="82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 lang="zh-CN" altLang="zh-CN" sz="2800" dirty="0">
                  <a:latin typeface="Times New Roman" panose="02020603050405020304" charset="0"/>
                  <a:cs typeface="Times New Roman" panose="02020603050405020304" charset="0"/>
                </a:rPr>
                <a:t>🗄️</a:t>
              </a:r>
              <a:endParaRPr lang="zh-CN" altLang="zh-CN" sz="28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Rounded Rectangle 12"/>
            <p:cNvSpPr/>
            <p:nvPr/>
          </p:nvSpPr>
          <p:spPr>
            <a:xfrm>
              <a:off x="1224" y="7200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Rectangle 13"/>
            <p:cNvSpPr/>
            <p:nvPr/>
          </p:nvSpPr>
          <p:spPr>
            <a:xfrm>
              <a:off x="1224" y="7200"/>
              <a:ext cx="8352" cy="115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TextBox 14"/>
            <p:cNvSpPr txBox="1"/>
            <p:nvPr/>
          </p:nvSpPr>
          <p:spPr>
            <a:xfrm>
              <a:off x="1626" y="7704"/>
              <a:ext cx="1068" cy="82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 lang="zh-CN" altLang="zh-CN" sz="2800" dirty="0">
                  <a:latin typeface="Times New Roman" panose="02020603050405020304" charset="0"/>
                  <a:cs typeface="Times New Roman" panose="02020603050405020304" charset="0"/>
                </a:rPr>
                <a:t>🔌</a:t>
              </a:r>
              <a:endParaRPr lang="zh-CN" altLang="zh-CN" sz="28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Rounded Rectangle 17"/>
            <p:cNvSpPr/>
            <p:nvPr/>
          </p:nvSpPr>
          <p:spPr>
            <a:xfrm>
              <a:off x="10872" y="7200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Rectangle 18"/>
            <p:cNvSpPr/>
            <p:nvPr/>
          </p:nvSpPr>
          <p:spPr>
            <a:xfrm>
              <a:off x="10872" y="7200"/>
              <a:ext cx="8352" cy="115"/>
            </a:xfrm>
            <a:prstGeom prst="rect">
              <a:avLst/>
            </a:prstGeom>
            <a:solidFill>
              <a:srgbClr val="50C8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Box 19"/>
            <p:cNvSpPr txBox="1"/>
            <p:nvPr/>
          </p:nvSpPr>
          <p:spPr>
            <a:xfrm>
              <a:off x="11274" y="7704"/>
              <a:ext cx="1068" cy="82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 lang="zh-CN" altLang="zh-CN" sz="2800" dirty="0">
                  <a:latin typeface="Times New Roman" panose="02020603050405020304" charset="0"/>
                  <a:cs typeface="Times New Roman" panose="02020603050405020304" charset="0"/>
                </a:rPr>
                <a:t>⚙️</a:t>
              </a:r>
              <a:endParaRPr lang="zh-CN" altLang="zh-CN" sz="28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8805" y="3543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dirty="0">
                <a:solidFill>
                  <a:srgbClr val="1F2329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Elan Hui’s Contribution</a:t>
            </a:r>
            <a:endParaRPr lang="en-US" altLang="en-US" sz="3200" b="1" dirty="0">
              <a:solidFill>
                <a:srgbClr val="1F2329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TextBox 5"/>
          <p:cNvSpPr txBox="1"/>
          <p:nvPr/>
        </p:nvSpPr>
        <p:spPr>
          <a:xfrm>
            <a:off x="775018" y="2255520"/>
            <a:ext cx="4663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2D2D"/>
                </a:solidFill>
                <a:latin typeface="Arial" panose="020B0604020202020204"/>
              </a:defRPr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Overall Architecture Design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10"/>
          <p:cNvSpPr txBox="1"/>
          <p:nvPr/>
        </p:nvSpPr>
        <p:spPr>
          <a:xfrm>
            <a:off x="6901498" y="2255520"/>
            <a:ext cx="4663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2D2D"/>
                </a:solidFill>
                <a:latin typeface="Arial" panose="020B0604020202020204"/>
              </a:defRPr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Database Design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15"/>
          <p:cNvSpPr txBox="1"/>
          <p:nvPr/>
        </p:nvSpPr>
        <p:spPr>
          <a:xfrm>
            <a:off x="775018" y="5181600"/>
            <a:ext cx="4663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2D2D"/>
                </a:solidFill>
                <a:latin typeface="Arial" panose="020B0604020202020204"/>
              </a:defRPr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API Interface Design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6901498" y="5181600"/>
            <a:ext cx="46634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2D2D"/>
                </a:solidFill>
                <a:latin typeface="Arial" panose="020B0604020202020204"/>
              </a:defRPr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Implementation of some Backend Functions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98169" y="1669311"/>
            <a:ext cx="344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🏗️</a:t>
            </a:r>
            <a:endParaRPr lang="zh-CN" altLang="zh-CN" sz="28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TextBox 1"/>
          <p:cNvSpPr txBox="1"/>
          <p:nvPr/>
        </p:nvSpPr>
        <p:spPr>
          <a:xfrm>
            <a:off x="548640" y="457200"/>
            <a:ext cx="54521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202020"/>
                </a:solidFill>
                <a:latin typeface="Times New Roman" panose="02020603050405020304"/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Felix W H Gou's Contribution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58115" y="2537460"/>
            <a:ext cx="11875135" cy="2221865"/>
            <a:chOff x="497" y="3996"/>
            <a:chExt cx="18701" cy="3499"/>
          </a:xfrm>
        </p:grpSpPr>
        <p:grpSp>
          <p:nvGrpSpPr>
            <p:cNvPr id="45" name="组合 44"/>
            <p:cNvGrpSpPr/>
            <p:nvPr/>
          </p:nvGrpSpPr>
          <p:grpSpPr>
            <a:xfrm>
              <a:off x="497" y="4018"/>
              <a:ext cx="7416" cy="3456"/>
              <a:chOff x="1152" y="2304"/>
              <a:chExt cx="7416" cy="3456"/>
            </a:xfrm>
          </p:grpSpPr>
          <p:sp>
            <p:nvSpPr>
              <p:cNvPr id="26" name="Rounded Rectangle 2"/>
              <p:cNvSpPr/>
              <p:nvPr/>
            </p:nvSpPr>
            <p:spPr>
              <a:xfrm>
                <a:off x="1152" y="2304"/>
                <a:ext cx="5973" cy="3456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2700">
                <a:solidFill>
                  <a:srgbClr val="D0D0D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" name="Rounded Rectangle 3"/>
              <p:cNvSpPr/>
              <p:nvPr/>
            </p:nvSpPr>
            <p:spPr>
              <a:xfrm>
                <a:off x="1152" y="2304"/>
                <a:ext cx="5914" cy="120"/>
              </a:xfrm>
              <a:prstGeom prst="roundRect">
                <a:avLst>
                  <a:gd name="adj" fmla="val 30000"/>
                </a:avLst>
              </a:prstGeom>
              <a:solidFill>
                <a:srgbClr val="4285F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8" name="TextBox 4"/>
              <p:cNvSpPr txBox="1"/>
              <p:nvPr/>
            </p:nvSpPr>
            <p:spPr>
              <a:xfrm>
                <a:off x="1656" y="2808"/>
                <a:ext cx="864" cy="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3200">
                    <a:solidFill>
                      <a:srgbClr val="202020"/>
                    </a:solidFill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🗑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" name="TextBox 5"/>
              <p:cNvSpPr txBox="1"/>
              <p:nvPr/>
            </p:nvSpPr>
            <p:spPr>
              <a:xfrm>
                <a:off x="1656" y="3744"/>
                <a:ext cx="6912" cy="6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2200" b="1">
                    <a:solidFill>
                      <a:srgbClr val="202020"/>
                    </a:solidFill>
                    <a:latin typeface="Times New Roman" panose="02020603050405020304"/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Recycle Bin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3226" y="4018"/>
              <a:ext cx="5972" cy="3456"/>
              <a:chOff x="9936" y="2304"/>
              <a:chExt cx="5972" cy="345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9936" y="2304"/>
                <a:ext cx="5972" cy="3456"/>
                <a:chOff x="9936" y="2304"/>
                <a:chExt cx="5972" cy="3456"/>
              </a:xfrm>
            </p:grpSpPr>
            <p:sp>
              <p:nvSpPr>
                <p:cNvPr id="31" name="Rounded Rectangle 7"/>
                <p:cNvSpPr/>
                <p:nvPr/>
              </p:nvSpPr>
              <p:spPr>
                <a:xfrm>
                  <a:off x="9936" y="2304"/>
                  <a:ext cx="5973" cy="3456"/>
                </a:xfrm>
                <a:prstGeom prst="roundRect">
                  <a:avLst>
                    <a:gd name="adj" fmla="val 4000"/>
                  </a:avLst>
                </a:prstGeom>
                <a:solidFill>
                  <a:srgbClr val="FFFFFF"/>
                </a:solidFill>
                <a:ln w="12700">
                  <a:solidFill>
                    <a:srgbClr val="D0D0D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2" name="Rounded Rectangle 8"/>
                <p:cNvSpPr/>
                <p:nvPr/>
              </p:nvSpPr>
              <p:spPr>
                <a:xfrm>
                  <a:off x="9936" y="2304"/>
                  <a:ext cx="5973" cy="143"/>
                </a:xfrm>
                <a:prstGeom prst="roundRect">
                  <a:avLst>
                    <a:gd name="adj" fmla="val 30000"/>
                  </a:avLst>
                </a:prstGeom>
                <a:solidFill>
                  <a:srgbClr val="7B1FA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3" name="TextBox 9"/>
                <p:cNvSpPr txBox="1"/>
                <p:nvPr/>
              </p:nvSpPr>
              <p:spPr>
                <a:xfrm>
                  <a:off x="10440" y="2808"/>
                  <a:ext cx="864" cy="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 sz="3200">
                      <a:solidFill>
                        <a:srgbClr val="202020"/>
                      </a:solidFill>
                    </a:defRPr>
                  </a:pPr>
                  <a:r>
                    <a:rPr>
                      <a:latin typeface="Times New Roman" panose="02020603050405020304" charset="0"/>
                      <a:cs typeface="Times New Roman" panose="02020603050405020304" charset="0"/>
                    </a:rPr>
                    <a:t>🖥</a:t>
                  </a:r>
                  <a:endParaRPr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34" name="TextBox 10"/>
              <p:cNvSpPr txBox="1"/>
              <p:nvPr/>
            </p:nvSpPr>
            <p:spPr>
              <a:xfrm>
                <a:off x="10440" y="3744"/>
                <a:ext cx="5433" cy="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2200" b="1">
                    <a:solidFill>
                      <a:srgbClr val="202020"/>
                    </a:solidFill>
                    <a:latin typeface="Times New Roman" panose="02020603050405020304"/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Time Style Sync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6941" y="3996"/>
              <a:ext cx="7416" cy="3499"/>
              <a:chOff x="1152" y="6293"/>
              <a:chExt cx="7416" cy="3499"/>
            </a:xfrm>
          </p:grpSpPr>
          <p:sp>
            <p:nvSpPr>
              <p:cNvPr id="36" name="Rounded Rectangle 12"/>
              <p:cNvSpPr/>
              <p:nvPr/>
            </p:nvSpPr>
            <p:spPr>
              <a:xfrm>
                <a:off x="1152" y="6336"/>
                <a:ext cx="5973" cy="3456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2700">
                <a:solidFill>
                  <a:srgbClr val="D0D0D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7" name="Rounded Rectangle 13"/>
              <p:cNvSpPr/>
              <p:nvPr/>
            </p:nvSpPr>
            <p:spPr>
              <a:xfrm flipV="1">
                <a:off x="1152" y="6293"/>
                <a:ext cx="5973" cy="120"/>
              </a:xfrm>
              <a:prstGeom prst="roundRect">
                <a:avLst>
                  <a:gd name="adj" fmla="val 30000"/>
                </a:avLst>
              </a:prstGeom>
              <a:solidFill>
                <a:srgbClr val="4CAF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TextBox 14"/>
              <p:cNvSpPr txBox="1"/>
              <p:nvPr/>
            </p:nvSpPr>
            <p:spPr>
              <a:xfrm>
                <a:off x="1656" y="6840"/>
                <a:ext cx="864" cy="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3200">
                    <a:solidFill>
                      <a:srgbClr val="202020"/>
                    </a:solidFill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⏱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9" name="TextBox 15"/>
              <p:cNvSpPr txBox="1"/>
              <p:nvPr/>
            </p:nvSpPr>
            <p:spPr>
              <a:xfrm>
                <a:off x="1656" y="7776"/>
                <a:ext cx="6912" cy="6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2200" b="1">
                    <a:solidFill>
                      <a:srgbClr val="202020"/>
                    </a:solidFill>
                    <a:latin typeface="Times New Roman" panose="02020603050405020304"/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Auto Status Flow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454978" y="1341120"/>
            <a:ext cx="11430000" cy="5303520"/>
            <a:chOff x="1224" y="2592"/>
            <a:chExt cx="18000" cy="8352"/>
          </a:xfrm>
        </p:grpSpPr>
        <p:sp>
          <p:nvSpPr>
            <p:cNvPr id="4" name="Rounded Rectangle 2"/>
            <p:cNvSpPr/>
            <p:nvPr/>
          </p:nvSpPr>
          <p:spPr>
            <a:xfrm>
              <a:off x="1224" y="2592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" name="Rectangle 3"/>
            <p:cNvSpPr/>
            <p:nvPr/>
          </p:nvSpPr>
          <p:spPr>
            <a:xfrm>
              <a:off x="1224" y="2592"/>
              <a:ext cx="8352" cy="11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1728" y="3096"/>
              <a:ext cx="864" cy="8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🌐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1728" y="4032"/>
              <a:ext cx="7344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Internationalization (i18n)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Rounded Rectangle 7"/>
            <p:cNvSpPr/>
            <p:nvPr/>
          </p:nvSpPr>
          <p:spPr>
            <a:xfrm>
              <a:off x="10872" y="2592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Rectangle 8"/>
            <p:cNvSpPr/>
            <p:nvPr/>
          </p:nvSpPr>
          <p:spPr>
            <a:xfrm>
              <a:off x="10872" y="2592"/>
              <a:ext cx="8352" cy="115"/>
            </a:xfrm>
            <a:prstGeom prst="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11376" y="3096"/>
              <a:ext cx="864" cy="8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>
                  <a:latin typeface="Times New Roman" panose="02020603050405020304" charset="0"/>
                </a:rPr>
                <a:t>⚡</a:t>
              </a:r>
              <a:endParaRPr>
                <a:latin typeface="Times New Roman" panose="02020603050405020304" charset="0"/>
              </a:endParaRPr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11376" y="4032"/>
              <a:ext cx="7344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Auto-Transition with Random Failure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Rounded Rectangle 12"/>
            <p:cNvSpPr/>
            <p:nvPr/>
          </p:nvSpPr>
          <p:spPr>
            <a:xfrm>
              <a:off x="1224" y="7200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Rectangle 13"/>
            <p:cNvSpPr/>
            <p:nvPr/>
          </p:nvSpPr>
          <p:spPr>
            <a:xfrm>
              <a:off x="1224" y="7200"/>
              <a:ext cx="8352" cy="115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TextBox 14"/>
            <p:cNvSpPr txBox="1"/>
            <p:nvPr/>
          </p:nvSpPr>
          <p:spPr>
            <a:xfrm>
              <a:off x="1728" y="7704"/>
              <a:ext cx="864" cy="8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💰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TextBox 15"/>
            <p:cNvSpPr txBox="1"/>
            <p:nvPr/>
          </p:nvSpPr>
          <p:spPr>
            <a:xfrm>
              <a:off x="1728" y="8640"/>
              <a:ext cx="7344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Balance Sufficiency Check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Rounded Rectangle 17"/>
            <p:cNvSpPr/>
            <p:nvPr/>
          </p:nvSpPr>
          <p:spPr>
            <a:xfrm>
              <a:off x="10872" y="7200"/>
              <a:ext cx="8352" cy="37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Rectangle 18"/>
            <p:cNvSpPr/>
            <p:nvPr/>
          </p:nvSpPr>
          <p:spPr>
            <a:xfrm>
              <a:off x="10872" y="7200"/>
              <a:ext cx="8352" cy="115"/>
            </a:xfrm>
            <a:prstGeom prst="rect">
              <a:avLst/>
            </a:prstGeom>
            <a:solidFill>
              <a:srgbClr val="50C8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Box 19"/>
            <p:cNvSpPr txBox="1"/>
            <p:nvPr/>
          </p:nvSpPr>
          <p:spPr>
            <a:xfrm>
              <a:off x="11376" y="7704"/>
              <a:ext cx="864" cy="8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/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📝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TextBox 20"/>
            <p:cNvSpPr txBox="1"/>
            <p:nvPr/>
          </p:nvSpPr>
          <p:spPr>
            <a:xfrm>
              <a:off x="11376" y="8640"/>
              <a:ext cx="7344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Test Documentation &amp; JUnit 5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598805" y="3543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>
                <a:solidFill>
                  <a:srgbClr val="1F2329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Vianne W Q Xu’s Contribution</a:t>
            </a:r>
            <a:endParaRPr lang="en-US" altLang="en-US" sz="3200" b="1">
              <a:solidFill>
                <a:srgbClr val="1F2329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98805" y="3543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>
                <a:solidFill>
                  <a:srgbClr val="1F2329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Mia W T Mai’s Contribution</a:t>
            </a:r>
            <a:endParaRPr lang="en-US" altLang="en-US" sz="3200" b="1">
              <a:solidFill>
                <a:srgbClr val="1F2329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80683" y="1263015"/>
            <a:ext cx="11430000" cy="5074920"/>
            <a:chOff x="864" y="1584"/>
            <a:chExt cx="18000" cy="7992"/>
          </a:xfrm>
        </p:grpSpPr>
        <p:sp>
          <p:nvSpPr>
            <p:cNvPr id="3" name="Rounded Rectangle 1"/>
            <p:cNvSpPr/>
            <p:nvPr/>
          </p:nvSpPr>
          <p:spPr>
            <a:xfrm>
              <a:off x="864" y="1584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Rectangle 2"/>
            <p:cNvSpPr/>
            <p:nvPr/>
          </p:nvSpPr>
          <p:spPr>
            <a:xfrm>
              <a:off x="864" y="1584"/>
              <a:ext cx="5472" cy="11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TextBox 3"/>
            <p:cNvSpPr txBox="1"/>
            <p:nvPr/>
          </p:nvSpPr>
          <p:spPr>
            <a:xfrm>
              <a:off x="1344" y="2016"/>
              <a:ext cx="76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  <a:cs typeface="Times New Roman" panose="02020603050405020304" charset="0"/>
                </a:rPr>
                <a:t>🎨</a:t>
              </a:r>
              <a:endParaRPr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TextBox 4"/>
            <p:cNvSpPr txBox="1"/>
            <p:nvPr/>
          </p:nvSpPr>
          <p:spPr>
            <a:xfrm>
              <a:off x="1296" y="2952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Global Design Systems</a:t>
              </a:r>
              <a:endParaRPr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9" name="Rounded Rectangle 6"/>
            <p:cNvSpPr/>
            <p:nvPr/>
          </p:nvSpPr>
          <p:spPr>
            <a:xfrm>
              <a:off x="7128" y="1584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Rectangle 7"/>
            <p:cNvSpPr/>
            <p:nvPr/>
          </p:nvSpPr>
          <p:spPr>
            <a:xfrm>
              <a:off x="7128" y="1584"/>
              <a:ext cx="5472" cy="115"/>
            </a:xfrm>
            <a:prstGeom prst="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TextBox 8"/>
            <p:cNvSpPr txBox="1"/>
            <p:nvPr/>
          </p:nvSpPr>
          <p:spPr>
            <a:xfrm>
              <a:off x="7608" y="2016"/>
              <a:ext cx="76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  <a:cs typeface="Times New Roman" panose="02020603050405020304" charset="0"/>
                </a:rPr>
                <a:t>📄</a:t>
              </a:r>
              <a:endParaRPr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" name="TextBox 9"/>
            <p:cNvSpPr txBox="1"/>
            <p:nvPr/>
          </p:nvSpPr>
          <p:spPr>
            <a:xfrm>
              <a:off x="7560" y="2952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lang="en-US" sz="2000">
                  <a:latin typeface="Times New Roman" panose="02020603050405020304" charset="0"/>
                  <a:cs typeface="Times New Roman" panose="02020603050405020304" charset="0"/>
                </a:rPr>
                <a:t>Some</a:t>
              </a: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 Core Pages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Rounded Rectangle 11"/>
            <p:cNvSpPr/>
            <p:nvPr/>
          </p:nvSpPr>
          <p:spPr>
            <a:xfrm>
              <a:off x="13392" y="1584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Rectangle 12"/>
            <p:cNvSpPr/>
            <p:nvPr/>
          </p:nvSpPr>
          <p:spPr>
            <a:xfrm>
              <a:off x="13392" y="1584"/>
              <a:ext cx="5472" cy="115"/>
            </a:xfrm>
            <a:prstGeom prst="rect">
              <a:avLst/>
            </a:prstGeom>
            <a:solidFill>
              <a:srgbClr val="50C8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7" name="TextBox 13"/>
            <p:cNvSpPr txBox="1"/>
            <p:nvPr/>
          </p:nvSpPr>
          <p:spPr>
            <a:xfrm>
              <a:off x="13872" y="2016"/>
              <a:ext cx="76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</a:rPr>
                <a:t>✅</a:t>
              </a:r>
              <a:endParaRPr sz="2400">
                <a:latin typeface="Times New Roman" panose="02020603050405020304" charset="0"/>
              </a:endParaRPr>
            </a:p>
          </p:txBody>
        </p:sp>
        <p:sp>
          <p:nvSpPr>
            <p:cNvPr id="38" name="TextBox 14"/>
            <p:cNvSpPr txBox="1"/>
            <p:nvPr/>
          </p:nvSpPr>
          <p:spPr>
            <a:xfrm>
              <a:off x="13824" y="2952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Smart Form</a:t>
              </a:r>
              <a:r>
                <a:rPr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Validation</a:t>
              </a: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Rounded Rectangle 16"/>
            <p:cNvSpPr/>
            <p:nvPr/>
          </p:nvSpPr>
          <p:spPr>
            <a:xfrm>
              <a:off x="864" y="5976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1" name="Rectangle 17"/>
            <p:cNvSpPr/>
            <p:nvPr/>
          </p:nvSpPr>
          <p:spPr>
            <a:xfrm>
              <a:off x="864" y="5976"/>
              <a:ext cx="5472" cy="115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2" name="TextBox 18"/>
            <p:cNvSpPr txBox="1"/>
            <p:nvPr/>
          </p:nvSpPr>
          <p:spPr>
            <a:xfrm>
              <a:off x="1104" y="6408"/>
              <a:ext cx="124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  <a:cs typeface="Times New Roman" panose="02020603050405020304" charset="0"/>
                </a:rPr>
                <a:t>🏷️</a:t>
              </a:r>
              <a:endParaRPr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1296" y="7344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Visual Status Design</a:t>
              </a:r>
              <a:endParaRPr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Rounded Rectangle 21"/>
            <p:cNvSpPr/>
            <p:nvPr/>
          </p:nvSpPr>
          <p:spPr>
            <a:xfrm>
              <a:off x="7128" y="5976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" name="Rectangle 22"/>
            <p:cNvSpPr/>
            <p:nvPr/>
          </p:nvSpPr>
          <p:spPr>
            <a:xfrm>
              <a:off x="7128" y="5976"/>
              <a:ext cx="5472" cy="115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TextBox 23"/>
            <p:cNvSpPr txBox="1"/>
            <p:nvPr/>
          </p:nvSpPr>
          <p:spPr>
            <a:xfrm>
              <a:off x="7608" y="6408"/>
              <a:ext cx="76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  <a:cs typeface="Times New Roman" panose="02020603050405020304" charset="0"/>
                </a:rPr>
                <a:t>📋</a:t>
              </a:r>
              <a:endParaRPr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8" name="TextBox 24"/>
            <p:cNvSpPr txBox="1"/>
            <p:nvPr/>
          </p:nvSpPr>
          <p:spPr>
            <a:xfrm>
              <a:off x="7560" y="7344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Audit Trail Timeline</a:t>
              </a:r>
              <a:endParaRPr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0" name="Rounded Rectangle 26"/>
            <p:cNvSpPr/>
            <p:nvPr/>
          </p:nvSpPr>
          <p:spPr>
            <a:xfrm>
              <a:off x="13392" y="5976"/>
              <a:ext cx="5472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E8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1" name="Rectangle 27"/>
            <p:cNvSpPr/>
            <p:nvPr/>
          </p:nvSpPr>
          <p:spPr>
            <a:xfrm>
              <a:off x="13392" y="5976"/>
              <a:ext cx="5472" cy="115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2" name="TextBox 28"/>
            <p:cNvSpPr txBox="1"/>
            <p:nvPr/>
          </p:nvSpPr>
          <p:spPr>
            <a:xfrm>
              <a:off x="13872" y="6408"/>
              <a:ext cx="768" cy="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600"/>
              </a:pPr>
              <a:r>
                <a:rPr sz="2400">
                  <a:latin typeface="Times New Roman" panose="02020603050405020304" charset="0"/>
                  <a:cs typeface="Times New Roman" panose="02020603050405020304" charset="0"/>
                </a:rPr>
                <a:t>🔌</a:t>
              </a:r>
              <a:endParaRPr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3" name="TextBox 29"/>
            <p:cNvSpPr txBox="1"/>
            <p:nvPr/>
          </p:nvSpPr>
          <p:spPr>
            <a:xfrm>
              <a:off x="13824" y="7344"/>
              <a:ext cx="4608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 b="1">
                  <a:solidFill>
                    <a:srgbClr val="2D2D2D"/>
                  </a:solidFill>
                  <a:latin typeface="Arial" panose="020B0604020202020204"/>
                </a:defRPr>
              </a:pP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Clean API </a:t>
              </a:r>
              <a:r>
                <a:rPr sz="2000">
                  <a:latin typeface="Times New Roman" panose="02020603050405020304" charset="0"/>
                  <a:cs typeface="Times New Roman" panose="02020603050405020304" charset="0"/>
                </a:rPr>
                <a:t>Layer</a:t>
              </a:r>
              <a:endParaRPr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778760"/>
            <a:ext cx="8764270" cy="130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0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Live Demo</a:t>
            </a:r>
            <a:r>
              <a:rPr sz="3200" b="1">
                <a:solidFill>
                  <a:srgbClr val="1F2329"/>
                </a:solidFill>
              </a:rPr>
              <a:t> </a:t>
            </a:r>
            <a:endParaRPr sz="3200" b="1">
              <a:solidFill>
                <a:srgbClr val="1F232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Summary</a:t>
            </a:r>
            <a:endParaRPr lang="en-US"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668780"/>
            <a:ext cx="1051560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zh-CN"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This project is more than pages and APIs. It brings payment logic into a working system.</a:t>
            </a:r>
            <a:endParaRPr lang="en-US" altLang="zh-CN" sz="2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zh-CN"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We expanded basic CRUD into a fuller prototype.</a:t>
            </a:r>
            <a:endParaRPr lang="en-US" altLang="zh-CN" sz="2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zh-CN" sz="2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The system covers status, errors, recovery, scheduling, and testing.</a:t>
            </a:r>
            <a:endParaRPr lang="en-US" altLang="zh-CN" sz="2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endParaRPr lang="en-US" altLang="zh-CN" sz="2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What we’ve learnt</a:t>
            </a:r>
            <a:endParaRPr lang="en-US" sz="44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7565" y="1781810"/>
            <a:ext cx="10515600" cy="2026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zh-CN"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Team Cooperation</a:t>
            </a:r>
            <a:endParaRPr lang="en-US" altLang="zh-CN" sz="26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zh-CN"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How to build up a system from zero</a:t>
            </a:r>
            <a:endParaRPr lang="en-US" altLang="zh-CN" sz="26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  <a:spcAft>
                <a:spcPts val="1200"/>
              </a:spcAft>
            </a:pPr>
            <a:r>
              <a:rPr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sz="2600" b="1">
                <a:solidFill>
                  <a:srgbClr val="1F2329"/>
                </a:solidFill>
                <a:latin typeface="Times New Roman" panose="02020603050405020304" charset="0"/>
                <a:cs typeface="Times New Roman" panose="02020603050405020304" charset="0"/>
              </a:rPr>
              <a:t>Technology we may need in the future</a:t>
            </a:r>
            <a:endParaRPr lang="en-US" altLang="zh-CN" sz="26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endParaRPr lang="en-US" altLang="zh-CN" sz="2600" b="1">
              <a:solidFill>
                <a:srgbClr val="1F23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Thanks for listening</a:t>
            </a:r>
            <a:endParaRPr lang="en-US" sz="4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2940" y="3657600"/>
            <a:ext cx="109728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BEAFE"/>
                </a:solidFill>
                <a:latin typeface="Times New Roman" panose="02020603050405020304" charset="0"/>
                <a:cs typeface="Times New Roman" panose="02020603050405020304" charset="0"/>
              </a:rPr>
              <a:t>Q &amp; A</a:t>
            </a:r>
            <a:endParaRPr sz="2400">
              <a:solidFill>
                <a:srgbClr val="DBEAF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WPS 演示</Application>
  <PresentationFormat>On-screen Show (4:3)</PresentationFormat>
  <Paragraphs>153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Arial</vt:lpstr>
      <vt:lpstr>Times New Roman</vt:lpstr>
      <vt:lpstr>Calibri</vt:lpstr>
      <vt:lpstr>Times New Roman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nnnn</cp:lastModifiedBy>
  <cp:revision>25</cp:revision>
  <dcterms:created xsi:type="dcterms:W3CDTF">2013-01-27T09:14:00Z</dcterms:created>
  <dcterms:modified xsi:type="dcterms:W3CDTF">2026-07-30T06:18:57Z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11AFF70C21D54C51964424D69351788D_13</vt:lpwstr>
  </property>
</Properties>
</file>